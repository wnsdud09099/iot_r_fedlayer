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4" r:id="rId2"/>
    <p:sldId id="265" r:id="rId3"/>
    <p:sldId id="269" r:id="rId4"/>
    <p:sldId id="309" r:id="rId5"/>
    <p:sldId id="266" r:id="rId6"/>
    <p:sldId id="276" r:id="rId7"/>
    <p:sldId id="278" r:id="rId8"/>
    <p:sldId id="279" r:id="rId9"/>
    <p:sldId id="289" r:id="rId10"/>
    <p:sldId id="280" r:id="rId11"/>
    <p:sldId id="290" r:id="rId12"/>
    <p:sldId id="267" r:id="rId13"/>
    <p:sldId id="295" r:id="rId14"/>
    <p:sldId id="291" r:id="rId15"/>
    <p:sldId id="296" r:id="rId16"/>
    <p:sldId id="298" r:id="rId17"/>
    <p:sldId id="292" r:id="rId18"/>
    <p:sldId id="293" r:id="rId19"/>
    <p:sldId id="294" r:id="rId20"/>
    <p:sldId id="283" r:id="rId21"/>
    <p:sldId id="301" r:id="rId22"/>
    <p:sldId id="302" r:id="rId23"/>
    <p:sldId id="268" r:id="rId24"/>
    <p:sldId id="303" r:id="rId25"/>
    <p:sldId id="305" r:id="rId26"/>
    <p:sldId id="307" r:id="rId27"/>
    <p:sldId id="306" r:id="rId28"/>
    <p:sldId id="308" r:id="rId29"/>
    <p:sldId id="304" r:id="rId30"/>
    <p:sldId id="310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B4B4B4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Attack(30%)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R-FedLayer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0.61719999999999997</c:v>
                </c:pt>
                <c:pt idx="1">
                  <c:v>0.65410000000000001</c:v>
                </c:pt>
                <c:pt idx="2">
                  <c:v>0.66710000000000003</c:v>
                </c:pt>
                <c:pt idx="3">
                  <c:v>0.6754</c:v>
                </c:pt>
                <c:pt idx="4">
                  <c:v>0.68459999999999999</c:v>
                </c:pt>
                <c:pt idx="5">
                  <c:v>0.68810000000000004</c:v>
                </c:pt>
                <c:pt idx="6">
                  <c:v>0.68159999999999998</c:v>
                </c:pt>
                <c:pt idx="7">
                  <c:v>0.68710000000000004</c:v>
                </c:pt>
                <c:pt idx="8">
                  <c:v>0.68689999999999996</c:v>
                </c:pt>
                <c:pt idx="9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F1-4880-9500-5A43E9A6A7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FedAvg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0.55259999999999998</c:v>
                </c:pt>
                <c:pt idx="1">
                  <c:v>0.6048</c:v>
                </c:pt>
                <c:pt idx="2">
                  <c:v>0.624</c:v>
                </c:pt>
                <c:pt idx="3">
                  <c:v>0.63300000000000001</c:v>
                </c:pt>
                <c:pt idx="4">
                  <c:v>0.63429999999999997</c:v>
                </c:pt>
                <c:pt idx="5">
                  <c:v>0.6371</c:v>
                </c:pt>
                <c:pt idx="6">
                  <c:v>0.64290000000000003</c:v>
                </c:pt>
                <c:pt idx="7">
                  <c:v>0.64649999999999996</c:v>
                </c:pt>
                <c:pt idx="8">
                  <c:v>0.64939999999999998</c:v>
                </c:pt>
                <c:pt idx="9">
                  <c:v>0.64870000000000005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F1-4880-9500-5A43E9A6A7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FedPSO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0.00%</c:formatCode>
                <c:ptCount val="10"/>
                <c:pt idx="0">
                  <c:v>0.46960000000000002</c:v>
                </c:pt>
                <c:pt idx="1">
                  <c:v>0.65890000000000004</c:v>
                </c:pt>
                <c:pt idx="2">
                  <c:v>0.72299999999999998</c:v>
                </c:pt>
                <c:pt idx="3">
                  <c:v>0.75600000000000001</c:v>
                </c:pt>
                <c:pt idx="4">
                  <c:v>0.77810000000000001</c:v>
                </c:pt>
                <c:pt idx="5">
                  <c:v>0.78710000000000002</c:v>
                </c:pt>
                <c:pt idx="6">
                  <c:v>0.79500000000000004</c:v>
                </c:pt>
                <c:pt idx="7">
                  <c:v>0.80420000000000003</c:v>
                </c:pt>
                <c:pt idx="8">
                  <c:v>0.81140000000000001</c:v>
                </c:pt>
                <c:pt idx="9">
                  <c:v>0.81340000000000001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F1-4880-9500-5A43E9A6A7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Clean(0%)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R-FedLayer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0.624</c:v>
                </c:pt>
                <c:pt idx="1">
                  <c:v>0.65700000000000003</c:v>
                </c:pt>
                <c:pt idx="2">
                  <c:v>0.66710000000000003</c:v>
                </c:pt>
                <c:pt idx="3">
                  <c:v>0.68320000000000003</c:v>
                </c:pt>
                <c:pt idx="4">
                  <c:v>0.69269999999999998</c:v>
                </c:pt>
                <c:pt idx="5">
                  <c:v>0.69920000000000004</c:v>
                </c:pt>
                <c:pt idx="6">
                  <c:v>0.69930000000000003</c:v>
                </c:pt>
                <c:pt idx="7">
                  <c:v>0.70179999999999998</c:v>
                </c:pt>
                <c:pt idx="8">
                  <c:v>0.70309999999999995</c:v>
                </c:pt>
                <c:pt idx="9">
                  <c:v>0.70089999999999997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33-43B2-B0E8-E047411494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FedAvg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0.62129999999999996</c:v>
                </c:pt>
                <c:pt idx="1">
                  <c:v>0.66400000000000003</c:v>
                </c:pt>
                <c:pt idx="2">
                  <c:v>0.68149999999999999</c:v>
                </c:pt>
                <c:pt idx="3">
                  <c:v>0.69350000000000001</c:v>
                </c:pt>
                <c:pt idx="4">
                  <c:v>0.69710000000000005</c:v>
                </c:pt>
                <c:pt idx="5">
                  <c:v>0.7036</c:v>
                </c:pt>
                <c:pt idx="6">
                  <c:v>0.70850000000000002</c:v>
                </c:pt>
                <c:pt idx="7">
                  <c:v>0.71</c:v>
                </c:pt>
                <c:pt idx="8">
                  <c:v>0.71350000000000002</c:v>
                </c:pt>
                <c:pt idx="9">
                  <c:v>0.71579999999999999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33-43B2-B0E8-E047411494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FedPSO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0.00%</c:formatCode>
                <c:ptCount val="10"/>
                <c:pt idx="0">
                  <c:v>0.45779999999999998</c:v>
                </c:pt>
                <c:pt idx="1">
                  <c:v>0.66139999999999999</c:v>
                </c:pt>
                <c:pt idx="2">
                  <c:v>0.72360000000000002</c:v>
                </c:pt>
                <c:pt idx="3">
                  <c:v>0.755</c:v>
                </c:pt>
                <c:pt idx="4">
                  <c:v>0.77349999999999997</c:v>
                </c:pt>
                <c:pt idx="5">
                  <c:v>0.78520000000000001</c:v>
                </c:pt>
                <c:pt idx="6">
                  <c:v>0.79390000000000005</c:v>
                </c:pt>
                <c:pt idx="7">
                  <c:v>0.80169999999999997</c:v>
                </c:pt>
                <c:pt idx="8">
                  <c:v>0.8125</c:v>
                </c:pt>
                <c:pt idx="9">
                  <c:v>0.8085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33-43B2-B0E8-E04741149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Attack(50%)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R-FedLayer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0.61260000000000003</c:v>
                </c:pt>
                <c:pt idx="1">
                  <c:v>0.65259999999999996</c:v>
                </c:pt>
                <c:pt idx="2">
                  <c:v>0.67090000000000005</c:v>
                </c:pt>
                <c:pt idx="3">
                  <c:v>0.67710000000000004</c:v>
                </c:pt>
                <c:pt idx="4">
                  <c:v>0.68220000000000003</c:v>
                </c:pt>
                <c:pt idx="5">
                  <c:v>0.68030000000000002</c:v>
                </c:pt>
                <c:pt idx="6">
                  <c:v>0.68479999999999996</c:v>
                </c:pt>
                <c:pt idx="7">
                  <c:v>0.68769999999999998</c:v>
                </c:pt>
                <c:pt idx="8">
                  <c:v>0.69220000000000004</c:v>
                </c:pt>
                <c:pt idx="9">
                  <c:v>0.69040000000000001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F1-4880-9500-5A43E9A6A7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FedAvg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2.9899999999999999E-2</c:v>
                </c:pt>
                <c:pt idx="1">
                  <c:v>2.4799999999999999E-2</c:v>
                </c:pt>
                <c:pt idx="2">
                  <c:v>3.3500000000000002E-2</c:v>
                </c:pt>
                <c:pt idx="3">
                  <c:v>2.24E-2</c:v>
                </c:pt>
                <c:pt idx="4">
                  <c:v>3.0200000000000001E-2</c:v>
                </c:pt>
                <c:pt idx="5">
                  <c:v>3.95E-2</c:v>
                </c:pt>
                <c:pt idx="6">
                  <c:v>2.24E-2</c:v>
                </c:pt>
                <c:pt idx="7">
                  <c:v>2.98E-2</c:v>
                </c:pt>
                <c:pt idx="8">
                  <c:v>3.9800000000000002E-2</c:v>
                </c:pt>
                <c:pt idx="9">
                  <c:v>7.0999999999999994E-2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F1-4880-9500-5A43E9A6A7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FedPSO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0.00%</c:formatCode>
                <c:ptCount val="10"/>
                <c:pt idx="0">
                  <c:v>0.4677</c:v>
                </c:pt>
                <c:pt idx="1">
                  <c:v>0.17419999999999999</c:v>
                </c:pt>
                <c:pt idx="2">
                  <c:v>4.0099999999999997E-2</c:v>
                </c:pt>
                <c:pt idx="3">
                  <c:v>9.11E-2</c:v>
                </c:pt>
                <c:pt idx="4">
                  <c:v>0.1726</c:v>
                </c:pt>
                <c:pt idx="5">
                  <c:v>0.24529999999999999</c:v>
                </c:pt>
                <c:pt idx="6">
                  <c:v>0.49170000000000003</c:v>
                </c:pt>
                <c:pt idx="7">
                  <c:v>0.64949999999999997</c:v>
                </c:pt>
                <c:pt idx="8">
                  <c:v>0.53510000000000002</c:v>
                </c:pt>
                <c:pt idx="9">
                  <c:v>0.54869999999999997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F1-4880-9500-5A43E9A6A7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Attack(40%)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R-FedLayer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0.61260000000000003</c:v>
                </c:pt>
                <c:pt idx="1">
                  <c:v>0.65410000000000001</c:v>
                </c:pt>
                <c:pt idx="2">
                  <c:v>0.67090000000000005</c:v>
                </c:pt>
                <c:pt idx="3">
                  <c:v>0.67710000000000004</c:v>
                </c:pt>
                <c:pt idx="4">
                  <c:v>0.68220000000000003</c:v>
                </c:pt>
                <c:pt idx="5">
                  <c:v>0.68030000000000002</c:v>
                </c:pt>
                <c:pt idx="6">
                  <c:v>0.68479999999999996</c:v>
                </c:pt>
                <c:pt idx="7">
                  <c:v>0.68769999999999998</c:v>
                </c:pt>
                <c:pt idx="8">
                  <c:v>0.69220000000000004</c:v>
                </c:pt>
                <c:pt idx="9">
                  <c:v>0.69040000000000001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33-43B2-B0E8-E047411494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FedAvg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0.20860000000000001</c:v>
                </c:pt>
                <c:pt idx="1">
                  <c:v>0.28799999999999998</c:v>
                </c:pt>
                <c:pt idx="2">
                  <c:v>0.31669999999999998</c:v>
                </c:pt>
                <c:pt idx="3">
                  <c:v>0.35709999999999997</c:v>
                </c:pt>
                <c:pt idx="4">
                  <c:v>0.33729999999999999</c:v>
                </c:pt>
                <c:pt idx="5">
                  <c:v>0.32050000000000001</c:v>
                </c:pt>
                <c:pt idx="6">
                  <c:v>0.30859999999999999</c:v>
                </c:pt>
                <c:pt idx="7">
                  <c:v>0.28860000000000002</c:v>
                </c:pt>
                <c:pt idx="8">
                  <c:v>0.28199999999999997</c:v>
                </c:pt>
                <c:pt idx="9">
                  <c:v>0.27050000000000002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33-43B2-B0E8-E047411494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FedPSO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0.00%</c:formatCode>
                <c:ptCount val="10"/>
                <c:pt idx="0">
                  <c:v>0.46460000000000001</c:v>
                </c:pt>
                <c:pt idx="1">
                  <c:v>0.17299999999999999</c:v>
                </c:pt>
                <c:pt idx="2">
                  <c:v>4.2599999999999999E-2</c:v>
                </c:pt>
                <c:pt idx="3">
                  <c:v>9.5399999999999999E-2</c:v>
                </c:pt>
                <c:pt idx="4">
                  <c:v>0.1865</c:v>
                </c:pt>
                <c:pt idx="5">
                  <c:v>0.26140000000000002</c:v>
                </c:pt>
                <c:pt idx="6">
                  <c:v>0.51729999999999998</c:v>
                </c:pt>
                <c:pt idx="7">
                  <c:v>0.64429999999999998</c:v>
                </c:pt>
                <c:pt idx="8">
                  <c:v>0.70550000000000002</c:v>
                </c:pt>
                <c:pt idx="9">
                  <c:v>0.74080000000000001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33-43B2-B0E8-E04741149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Clean(0%)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IID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0.624</c:v>
                </c:pt>
                <c:pt idx="1">
                  <c:v>0.65700000000000003</c:v>
                </c:pt>
                <c:pt idx="2">
                  <c:v>0.67630000000000001</c:v>
                </c:pt>
                <c:pt idx="3">
                  <c:v>0.68320000000000003</c:v>
                </c:pt>
                <c:pt idx="4">
                  <c:v>0.69269999999999998</c:v>
                </c:pt>
                <c:pt idx="5">
                  <c:v>0.69920000000000004</c:v>
                </c:pt>
                <c:pt idx="6">
                  <c:v>0.69930000000000003</c:v>
                </c:pt>
                <c:pt idx="7">
                  <c:v>0.70179999999999998</c:v>
                </c:pt>
                <c:pt idx="8">
                  <c:v>0.70309999999999995</c:v>
                </c:pt>
                <c:pt idx="9">
                  <c:v>0.70089999999999997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95-490A-93AB-BE0AE5BFE8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Non-IID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0.51729999999999998</c:v>
                </c:pt>
                <c:pt idx="1">
                  <c:v>0.57489999999999997</c:v>
                </c:pt>
                <c:pt idx="2">
                  <c:v>0.57840000000000003</c:v>
                </c:pt>
                <c:pt idx="3">
                  <c:v>0.56299999999999994</c:v>
                </c:pt>
                <c:pt idx="4">
                  <c:v>0.57440000000000002</c:v>
                </c:pt>
                <c:pt idx="5">
                  <c:v>0.60909999999999997</c:v>
                </c:pt>
                <c:pt idx="6">
                  <c:v>0.62390000000000001</c:v>
                </c:pt>
                <c:pt idx="7">
                  <c:v>0.62019999999999997</c:v>
                </c:pt>
                <c:pt idx="8">
                  <c:v>0.63780000000000003</c:v>
                </c:pt>
                <c:pt idx="9">
                  <c:v>0.63700000000000001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95-490A-93AB-BE0AE5BFE8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열1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E95-490A-93AB-BE0AE5BFE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Attack(30%)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IID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0.61719999999999997</c:v>
                </c:pt>
                <c:pt idx="1">
                  <c:v>0.65410000000000001</c:v>
                </c:pt>
                <c:pt idx="2">
                  <c:v>0.66710000000000003</c:v>
                </c:pt>
                <c:pt idx="3">
                  <c:v>0.6754</c:v>
                </c:pt>
                <c:pt idx="4">
                  <c:v>0.68459999999999999</c:v>
                </c:pt>
                <c:pt idx="5">
                  <c:v>0.68810000000000004</c:v>
                </c:pt>
                <c:pt idx="6">
                  <c:v>0.68159999999999998</c:v>
                </c:pt>
                <c:pt idx="7">
                  <c:v>0.68710000000000004</c:v>
                </c:pt>
                <c:pt idx="8">
                  <c:v>0.68889999999999996</c:v>
                </c:pt>
                <c:pt idx="9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7C-48BC-94E2-46933A3268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Non-IID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0.42920000000000003</c:v>
                </c:pt>
                <c:pt idx="1">
                  <c:v>0.44140000000000001</c:v>
                </c:pt>
                <c:pt idx="2">
                  <c:v>0.49080000000000001</c:v>
                </c:pt>
                <c:pt idx="3">
                  <c:v>0.5212</c:v>
                </c:pt>
                <c:pt idx="4">
                  <c:v>0.54630000000000001</c:v>
                </c:pt>
                <c:pt idx="5">
                  <c:v>0.57689999999999997</c:v>
                </c:pt>
                <c:pt idx="6">
                  <c:v>0.58950000000000002</c:v>
                </c:pt>
                <c:pt idx="7">
                  <c:v>0.59799999999999998</c:v>
                </c:pt>
                <c:pt idx="8">
                  <c:v>0.60099999999999998</c:v>
                </c:pt>
                <c:pt idx="9">
                  <c:v>0.60640000000000005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7C-48BC-94E2-46933A3268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Clean(0%)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데이터 공유 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0.624</c:v>
                </c:pt>
                <c:pt idx="1">
                  <c:v>0.65700000000000003</c:v>
                </c:pt>
                <c:pt idx="2">
                  <c:v>0.67630000000000001</c:v>
                </c:pt>
                <c:pt idx="3">
                  <c:v>0.68320000000000003</c:v>
                </c:pt>
                <c:pt idx="4">
                  <c:v>0.69269999999999998</c:v>
                </c:pt>
                <c:pt idx="5">
                  <c:v>0.69920000000000004</c:v>
                </c:pt>
                <c:pt idx="6">
                  <c:v>0.69930000000000003</c:v>
                </c:pt>
                <c:pt idx="7">
                  <c:v>0.70179999999999998</c:v>
                </c:pt>
                <c:pt idx="8">
                  <c:v>0.70309999999999995</c:v>
                </c:pt>
                <c:pt idx="9">
                  <c:v>0.70089999999999997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95-490A-93AB-BE0AE5BFE8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데이터 공유 o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0.70889999999999997</c:v>
                </c:pt>
                <c:pt idx="1">
                  <c:v>0.7198</c:v>
                </c:pt>
                <c:pt idx="2">
                  <c:v>0.74019999999999997</c:v>
                </c:pt>
                <c:pt idx="3">
                  <c:v>0.73050000000000004</c:v>
                </c:pt>
                <c:pt idx="4">
                  <c:v>0.73660000000000003</c:v>
                </c:pt>
                <c:pt idx="5">
                  <c:v>0.74439999999999995</c:v>
                </c:pt>
                <c:pt idx="6">
                  <c:v>0.75170000000000003</c:v>
                </c:pt>
                <c:pt idx="7">
                  <c:v>0.74790000000000001</c:v>
                </c:pt>
                <c:pt idx="8">
                  <c:v>0.74509999999999998</c:v>
                </c:pt>
                <c:pt idx="9">
                  <c:v>0.7591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95-490A-93AB-BE0AE5BFE8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열1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E95-490A-93AB-BE0AE5BFE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Attack(30%)</a:t>
            </a:r>
            <a:r>
              <a:rPr lang="en-US" altLang="ko-KR" baseline="0" dirty="0"/>
              <a:t> Performance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데이터 공유 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0.00%</c:formatCode>
                <c:ptCount val="10"/>
                <c:pt idx="0">
                  <c:v>0.61719999999999997</c:v>
                </c:pt>
                <c:pt idx="1">
                  <c:v>0.65410000000000001</c:v>
                </c:pt>
                <c:pt idx="2">
                  <c:v>0.66710000000000003</c:v>
                </c:pt>
                <c:pt idx="3">
                  <c:v>0.6754</c:v>
                </c:pt>
                <c:pt idx="4">
                  <c:v>0.68459999999999999</c:v>
                </c:pt>
                <c:pt idx="5">
                  <c:v>0.68810000000000004</c:v>
                </c:pt>
                <c:pt idx="6">
                  <c:v>0.68159999999999998</c:v>
                </c:pt>
                <c:pt idx="7">
                  <c:v>0.68710000000000004</c:v>
                </c:pt>
                <c:pt idx="8">
                  <c:v>0.68889999999999996</c:v>
                </c:pt>
                <c:pt idx="9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7C-48BC-94E2-46933A3268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데이터 공유 o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0.00%</c:formatCode>
                <c:ptCount val="10"/>
                <c:pt idx="0">
                  <c:v>0.69389999999999996</c:v>
                </c:pt>
                <c:pt idx="1">
                  <c:v>0.70240000000000002</c:v>
                </c:pt>
                <c:pt idx="2">
                  <c:v>0.71050000000000002</c:v>
                </c:pt>
                <c:pt idx="3">
                  <c:v>0.71989999999999998</c:v>
                </c:pt>
                <c:pt idx="4">
                  <c:v>0.73529999999999995</c:v>
                </c:pt>
                <c:pt idx="5">
                  <c:v>0.73839999999999995</c:v>
                </c:pt>
                <c:pt idx="6">
                  <c:v>0.73229999999999995</c:v>
                </c:pt>
                <c:pt idx="7">
                  <c:v>0.73699999999999999</c:v>
                </c:pt>
                <c:pt idx="8">
                  <c:v>0.73629999999999995</c:v>
                </c:pt>
                <c:pt idx="9">
                  <c:v>0.73860000000000003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7C-48BC-94E2-46933A3268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5653567"/>
        <c:axId val="305651647"/>
      </c:lineChart>
      <c:catAx>
        <c:axId val="30565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1647"/>
        <c:crosses val="autoZero"/>
        <c:auto val="1"/>
        <c:lblAlgn val="ctr"/>
        <c:lblOffset val="100"/>
        <c:noMultiLvlLbl val="0"/>
      </c:catAx>
      <c:valAx>
        <c:axId val="305651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5653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8EC87-7664-4480-BB2D-22745C17935C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592E6-B543-4473-B191-B02651890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78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3D2B9-EBA9-8846-BFE7-D60A072B8AC2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24508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592E6-B543-4473-B191-B026518906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05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483A-0046-146C-4EBD-AD68C040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F52D0A-F4BE-E814-39D2-CFD6A0A30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5C082D-29F8-F3AF-F48E-5B61C318B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118BF-951E-2528-1A1E-180AD1A8E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592E6-B543-4473-B191-B026518906D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621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BE496-DA9F-D5F3-5106-A4E40E66C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3F8DF5-F761-7962-0BBE-52691F491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DC15E7-F6B0-2C60-E335-68F628BAE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D4FFD-E03D-1621-2D95-02543FC35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592E6-B543-4473-B191-B026518906D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49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4E2D-20E4-31BF-FA13-0E06B771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0D7133-2E8E-4C65-DF65-5BAFBE8AD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A13A22-5AE8-386E-E952-06F1CCEE0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64F58D-BD60-8D71-F149-0C2022503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592E6-B543-4473-B191-B026518906D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3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87E77-EC8B-0D6D-F01A-03757611A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70A56B-9DEC-971B-C405-4F88E9BD4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03D86-323F-896E-B22B-724FDEDA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637856-FDBB-A787-107F-ED754CA2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F490C-8C11-F993-70DA-B4BA75DC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55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349AA-A557-8D85-1BC8-E72FD63B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27431-07FE-3C85-94C8-090C965C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A50F2-F87B-3AC0-6831-C5DF4E9C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A96FE-CF7E-B0AC-B2A2-C5491108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6B8EC6-680C-2BF5-4304-EB6A8D87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99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E9ACB-FDC7-7ADC-8BF0-5DA4A7C2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CD06C1-7153-B3E5-6950-BD2F58A11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66E92-FEC3-7838-5E2E-952D2EE2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30BAD5-FB8F-4B53-F085-42BC69E2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0E1CB-DA40-7392-FE7F-7E489A06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96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6D9C4-820D-FAC9-DB0A-2927AC11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D5A9C-7B91-9F09-DF5C-D7E6F1888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501857-8B13-BF9E-600F-049B709AB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F31A27-4CEA-AE74-50DF-9DC1ABBB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19286E-A8B1-9AF5-AEF8-13BD7619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B4CFA4-8418-978E-279A-1924430D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66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60E17-9498-CD4E-564D-D0566866D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CC647-D11C-33B9-7A5E-9084E4190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91CB47-C69A-D0A9-4610-0B2FD75C3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BF3A90-B076-F831-C796-15A3D4389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1F8966-8B91-2A6D-0561-393E19CB1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103033-198B-E284-A10F-0C1D6A4E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EBA4CB-C2C8-CD94-A239-4205E245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D0DC0F-79BC-38D5-C015-13D0ACFF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0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85869-517F-389A-5E51-ED9465C5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E48829-72D1-B646-4176-20B52ED4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8E4D82-343F-4208-ECA2-CD8343DC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175A67-D800-2AF6-E0A6-1770D547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6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DF5D55-AE13-815B-0E1B-60A1109E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DA2E10-9AFB-2624-69F3-B683F1C8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3BA62-B901-FF6F-C852-CDA1CC1A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67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FDE23-A3D2-AC04-D1F5-195F0256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B4F2B4-FB2F-C97C-8A2B-B6013CBCC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5E7EAF-B5D4-F6CB-E659-FD8F37D7B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2B927E-1552-50C7-E537-34645E6DD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780A7F-1EA7-C1E0-1350-5E8ED60D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E66FC-AA91-D6FF-C7BB-61FB8232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3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CCFE5-1FFF-14E0-1472-F273AF46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9EF168-0A80-D79B-F46D-7223B9199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07EAE0-6EB3-72B1-B00A-ACA2778E0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CD8685-F787-0E7F-BAF8-C78EEBDE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8ACE53-CA88-FB2B-0A87-EFDD0D0F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14F048-F1C6-A542-03A7-416A3D400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24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3280-501F-5778-1B8C-134DCBEA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8AA7B4-4EC7-AD18-D92B-3110730A1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2CDBA5-E131-3267-EC33-FB252995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4E817-A3FE-3F82-2F27-C6EF58C0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0EB4FB-5B01-C3EE-9836-D90EF48C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56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BE31A9-35EB-75C2-82B0-B772508EB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2D55EF-A98F-ED1A-1833-0853FBC41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D28D0-6F96-C3B1-E57B-231F4F83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FFE7F7-C1A5-5251-AE52-402EF513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1ACA2-6CB6-1906-EBC1-6AA0E4BB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36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EEDAB3-E3A7-CE67-60C5-948DDD9C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09DB12-9F35-0B5A-23F0-A2C26E94B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A921B-23B5-6746-1209-3755CD372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326EF-4904-4167-8B30-7909E00148A7}" type="datetimeFigureOut">
              <a:rPr lang="ko-KR" altLang="en-US" smtClean="0"/>
              <a:t>2025. 11. 26.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8438A4-0A7A-F144-869D-D2470ACF5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BC9D6-DF9B-B70F-EA9F-3F5788BA1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59B12-B42B-40FE-88B7-D09A56AE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19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40133" y="2506273"/>
            <a:ext cx="9636829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R-</a:t>
            </a:r>
            <a:r>
              <a:rPr lang="en-US" altLang="ko-KR" sz="4000" dirty="0" err="1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Fedlayer</a:t>
            </a:r>
            <a:r>
              <a:rPr lang="en-US" altLang="ko-KR" sz="4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 </a:t>
            </a:r>
            <a:r>
              <a:rPr lang="ko-KR" altLang="en-US" sz="4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강건성 검증 및 </a:t>
            </a:r>
            <a:endParaRPr lang="en-US" altLang="ko-KR" sz="4000" dirty="0">
              <a:solidFill>
                <a:srgbClr val="595959"/>
              </a:solidFill>
              <a:latin typeface="Cafe24 Dangdanghae" pitchFamily="34" charset="0"/>
              <a:cs typeface="Cafe24 Dangdanghae" pitchFamily="34" charset="0"/>
            </a:endParaRPr>
          </a:p>
          <a:p>
            <a:r>
              <a:rPr lang="en-US" altLang="ko-KR" sz="4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Non-IID</a:t>
            </a:r>
            <a:r>
              <a:rPr lang="ko-KR" altLang="en-US" sz="4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환경 확장 실험</a:t>
            </a:r>
            <a:endParaRPr lang="en-US" altLang="ko-KR" sz="4000" dirty="0">
              <a:solidFill>
                <a:srgbClr val="595959"/>
              </a:solidFill>
              <a:latin typeface="Cafe24 Dangdanghae" pitchFamily="34" charset="0"/>
              <a:cs typeface="Cafe24 Dangdanghae" pitchFamily="34" charset="0"/>
            </a:endParaRPr>
          </a:p>
        </p:txBody>
      </p:sp>
      <p:grpSp>
        <p:nvGrpSpPr>
          <p:cNvPr id="1001" name="그룹 1001"/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898750" y="428918"/>
            <a:ext cx="4094563" cy="2974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333" dirty="0">
                <a:solidFill>
                  <a:srgbClr val="595959"/>
                </a:solidFill>
                <a:latin typeface="S-Core Dream 4 Regular" pitchFamily="34" charset="0"/>
              </a:rPr>
              <a:t>Federated Learning</a:t>
            </a:r>
            <a:endParaRPr lang="en-US" sz="1200" dirty="0"/>
          </a:p>
        </p:txBody>
      </p:sp>
      <p:sp>
        <p:nvSpPr>
          <p:cNvPr id="9" name="Object 9"/>
          <p:cNvSpPr txBox="1"/>
          <p:nvPr/>
        </p:nvSpPr>
        <p:spPr>
          <a:xfrm>
            <a:off x="2925286" y="428918"/>
            <a:ext cx="5165063" cy="2974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20211898 </a:t>
            </a:r>
            <a:r>
              <a:rPr lang="ko-KR" altLang="en-US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정준영  </a:t>
            </a:r>
            <a:r>
              <a:rPr lang="en-US" altLang="ko-KR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en-US" altLang="ko-KR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20211875</a:t>
            </a:r>
            <a:r>
              <a:rPr lang="ko-KR" altLang="en-US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33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박신향</a:t>
            </a:r>
            <a:r>
              <a:rPr lang="ko-KR" altLang="en-US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   </a:t>
            </a:r>
            <a:r>
              <a:rPr lang="en-US" altLang="ko-KR" sz="1333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20222020 </a:t>
            </a:r>
            <a:r>
              <a:rPr lang="ko-KR" altLang="en-US" sz="1333" dirty="0">
                <a:solidFill>
                  <a:srgbClr val="595959"/>
                </a:solidFill>
                <a:latin typeface="Showcard Gothic" panose="04020904020102020604" pitchFamily="82" charset="0"/>
                <a:cs typeface="S-Core Dream 4 Regular" pitchFamily="34" charset="0"/>
              </a:rPr>
              <a:t>김재운</a:t>
            </a:r>
            <a:endParaRPr lang="en-US" sz="1200" dirty="0">
              <a:latin typeface="Showcard Gothic" panose="04020904020102020604" pitchFamily="82" charset="0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</a:t>
            </a:r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</a:t>
            </a:r>
            <a:endParaRPr lang="en-US" sz="1200" dirty="0"/>
          </a:p>
        </p:txBody>
      </p:sp>
      <p:sp>
        <p:nvSpPr>
          <p:cNvPr id="14" name="Object 14"/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F0C6C57F-2142-04DF-1014-C3C5C7C7E43B}"/>
              </a:ext>
            </a:extLst>
          </p:cNvPr>
          <p:cNvSpPr txBox="1"/>
          <p:nvPr/>
        </p:nvSpPr>
        <p:spPr>
          <a:xfrm>
            <a:off x="198728" y="418892"/>
            <a:ext cx="4094563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</a:rPr>
              <a:t>[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</a:rPr>
              <a:t>사물인터넷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</a:rPr>
              <a:t>-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</a:rPr>
              <a:t>오전반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</a:rPr>
              <a:t>] 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</a:rPr>
              <a:t> 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</a:rPr>
              <a:t>2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</a:rPr>
              <a:t>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676292" y="6307048"/>
            <a:ext cx="8755454" cy="109714"/>
            <a:chOff x="5514438" y="9460571"/>
            <a:chExt cx="13133181" cy="16457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0800000">
              <a:off x="5514438" y="9460571"/>
              <a:ext cx="13133181" cy="16457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9076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01</a:t>
            </a:r>
            <a:endParaRPr lang="en-US" sz="1200" dirty="0"/>
          </a:p>
        </p:txBody>
      </p:sp>
      <p:sp>
        <p:nvSpPr>
          <p:cNvPr id="9" name="Object 9"/>
          <p:cNvSpPr txBox="1"/>
          <p:nvPr/>
        </p:nvSpPr>
        <p:spPr>
          <a:xfrm>
            <a:off x="925456" y="301506"/>
            <a:ext cx="3104996" cy="861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5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목차</a:t>
            </a:r>
            <a:endParaRPr lang="en-US" sz="5000" dirty="0"/>
          </a:p>
        </p:txBody>
      </p:sp>
      <p:sp>
        <p:nvSpPr>
          <p:cNvPr id="10" name="Object 10"/>
          <p:cNvSpPr txBox="1"/>
          <p:nvPr/>
        </p:nvSpPr>
        <p:spPr>
          <a:xfrm>
            <a:off x="3467629" y="1214275"/>
            <a:ext cx="762505" cy="718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67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01</a:t>
            </a:r>
            <a:endParaRPr lang="en-US" sz="1200" dirty="0"/>
          </a:p>
        </p:txBody>
      </p:sp>
      <p:sp>
        <p:nvSpPr>
          <p:cNvPr id="11" name="Object 11"/>
          <p:cNvSpPr txBox="1"/>
          <p:nvPr/>
        </p:nvSpPr>
        <p:spPr>
          <a:xfrm>
            <a:off x="3427221" y="1895550"/>
            <a:ext cx="2585806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500" dirty="0">
                <a:solidFill>
                  <a:srgbClr val="595959"/>
                </a:solidFill>
                <a:latin typeface="Cafe24 Dangdanghae" pitchFamily="34" charset="0"/>
              </a:rPr>
              <a:t>연구배경</a:t>
            </a:r>
            <a:endParaRPr lang="en-US" sz="2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67629" y="2303321"/>
            <a:ext cx="2526719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</a:t>
            </a:r>
            <a:r>
              <a:rPr lang="ko-KR" alt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 선정 이유</a:t>
            </a:r>
            <a:endParaRPr lang="en-US" sz="1500" b="1" dirty="0"/>
          </a:p>
        </p:txBody>
      </p:sp>
      <p:sp>
        <p:nvSpPr>
          <p:cNvPr id="13" name="Object 13"/>
          <p:cNvSpPr txBox="1"/>
          <p:nvPr/>
        </p:nvSpPr>
        <p:spPr>
          <a:xfrm>
            <a:off x="6935660" y="1163280"/>
            <a:ext cx="922631" cy="718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67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02</a:t>
            </a:r>
            <a:endParaRPr lang="en-US" sz="1200" dirty="0"/>
          </a:p>
        </p:txBody>
      </p:sp>
      <p:sp>
        <p:nvSpPr>
          <p:cNvPr id="14" name="Object 14"/>
          <p:cNvSpPr txBox="1"/>
          <p:nvPr/>
        </p:nvSpPr>
        <p:spPr>
          <a:xfrm>
            <a:off x="6935659" y="1842240"/>
            <a:ext cx="3128826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50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ore-KR" sz="2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35659" y="2228380"/>
            <a:ext cx="305733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</a:t>
            </a:r>
            <a:r>
              <a:rPr lang="en-US" sz="1500" b="1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FedAvg</a:t>
            </a:r>
            <a:endParaRPr lang="en-US" sz="1500" b="1" dirty="0"/>
          </a:p>
        </p:txBody>
      </p:sp>
      <p:sp>
        <p:nvSpPr>
          <p:cNvPr id="16" name="Object 16"/>
          <p:cNvSpPr txBox="1"/>
          <p:nvPr/>
        </p:nvSpPr>
        <p:spPr>
          <a:xfrm>
            <a:off x="3498678" y="3246496"/>
            <a:ext cx="922631" cy="718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67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03</a:t>
            </a:r>
            <a:endParaRPr lang="en-US" sz="1200" dirty="0"/>
          </a:p>
        </p:txBody>
      </p:sp>
      <p:sp>
        <p:nvSpPr>
          <p:cNvPr id="17" name="Object 17"/>
          <p:cNvSpPr txBox="1"/>
          <p:nvPr/>
        </p:nvSpPr>
        <p:spPr>
          <a:xfrm>
            <a:off x="3498678" y="3925457"/>
            <a:ext cx="3128826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500" dirty="0">
                <a:solidFill>
                  <a:srgbClr val="595959"/>
                </a:solidFill>
                <a:latin typeface="Cafe24 Dangdanghae" pitchFamily="34" charset="0"/>
              </a:rPr>
              <a:t>논문 모델 </a:t>
            </a:r>
            <a:r>
              <a:rPr lang="ko-KR" altLang="en-US" sz="250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ore-KR" sz="2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98678" y="4311597"/>
            <a:ext cx="305733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</a:t>
            </a:r>
            <a:r>
              <a:rPr lang="ko-KR" alt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모델 설정</a:t>
            </a:r>
            <a:endParaRPr lang="en-US" sz="1500" b="1" dirty="0"/>
          </a:p>
        </p:txBody>
      </p:sp>
      <p:sp>
        <p:nvSpPr>
          <p:cNvPr id="19" name="Object 19"/>
          <p:cNvSpPr txBox="1"/>
          <p:nvPr/>
        </p:nvSpPr>
        <p:spPr>
          <a:xfrm>
            <a:off x="7105598" y="3246496"/>
            <a:ext cx="922631" cy="718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67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04</a:t>
            </a:r>
            <a:endParaRPr lang="en-US" sz="1200" dirty="0"/>
          </a:p>
        </p:txBody>
      </p:sp>
      <p:sp>
        <p:nvSpPr>
          <p:cNvPr id="20" name="Object 20"/>
          <p:cNvSpPr txBox="1"/>
          <p:nvPr/>
        </p:nvSpPr>
        <p:spPr>
          <a:xfrm>
            <a:off x="7113867" y="3927825"/>
            <a:ext cx="3128826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500" dirty="0">
                <a:solidFill>
                  <a:srgbClr val="595959"/>
                </a:solidFill>
                <a:latin typeface="Cafe24 Dangdanghae" pitchFamily="34" charset="0"/>
              </a:rPr>
              <a:t>확장 실험</a:t>
            </a:r>
            <a:endParaRPr lang="en-US" altLang="ko-Kore-KR" sz="2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05597" y="4311597"/>
            <a:ext cx="305733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Non-IID</a:t>
            </a:r>
            <a:r>
              <a:rPr lang="ko-KR" alt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환경 확장</a:t>
            </a:r>
            <a:endParaRPr lang="en-US" sz="1500" b="1" dirty="0"/>
          </a:p>
        </p:txBody>
      </p:sp>
      <p:sp>
        <p:nvSpPr>
          <p:cNvPr id="22" name="Object 22"/>
          <p:cNvSpPr txBox="1"/>
          <p:nvPr/>
        </p:nvSpPr>
        <p:spPr>
          <a:xfrm>
            <a:off x="331292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-322257" y="4378450"/>
            <a:ext cx="1875864" cy="82850"/>
            <a:chOff x="-483385" y="6567674"/>
            <a:chExt cx="2813796" cy="124275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6200000">
              <a:off x="-483385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19">
            <a:extLst>
              <a:ext uri="{FF2B5EF4-FFF2-40B4-BE49-F238E27FC236}">
                <a16:creationId xmlns:a16="http://schemas.microsoft.com/office/drawing/2014/main" id="{5D50D72F-94E7-2841-FF3C-B0F4AD758788}"/>
              </a:ext>
            </a:extLst>
          </p:cNvPr>
          <p:cNvSpPr txBox="1"/>
          <p:nvPr/>
        </p:nvSpPr>
        <p:spPr>
          <a:xfrm>
            <a:off x="6013028" y="4671982"/>
            <a:ext cx="922631" cy="718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67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</a:t>
            </a:r>
            <a:r>
              <a:rPr lang="en-US" altLang="ko-KR" sz="4067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5</a:t>
            </a:r>
            <a:endParaRPr lang="en-US" sz="1200" dirty="0"/>
          </a:p>
        </p:txBody>
      </p:sp>
      <p:sp>
        <p:nvSpPr>
          <p:cNvPr id="7" name="Object 20">
            <a:extLst>
              <a:ext uri="{FF2B5EF4-FFF2-40B4-BE49-F238E27FC236}">
                <a16:creationId xmlns:a16="http://schemas.microsoft.com/office/drawing/2014/main" id="{FCDA599D-07FE-BC8B-726E-989DFD807384}"/>
              </a:ext>
            </a:extLst>
          </p:cNvPr>
          <p:cNvSpPr txBox="1"/>
          <p:nvPr/>
        </p:nvSpPr>
        <p:spPr>
          <a:xfrm>
            <a:off x="6013027" y="5350943"/>
            <a:ext cx="3128826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500" dirty="0">
                <a:solidFill>
                  <a:srgbClr val="595959"/>
                </a:solidFill>
                <a:latin typeface="Cafe24 Dangdanghae" pitchFamily="34" charset="0"/>
              </a:rPr>
              <a:t>결론</a:t>
            </a:r>
            <a:endParaRPr lang="en-US" altLang="ko-Kore-KR" sz="2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13A38EBD-92A9-0BCF-2060-1BC50696E44C}"/>
              </a:ext>
            </a:extLst>
          </p:cNvPr>
          <p:cNvSpPr txBox="1"/>
          <p:nvPr/>
        </p:nvSpPr>
        <p:spPr>
          <a:xfrm>
            <a:off x="7020628" y="2493027"/>
            <a:ext cx="305733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</a:t>
            </a:r>
            <a:r>
              <a:rPr lang="en-US" altLang="ko-KR" sz="1500" b="1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FedPSO</a:t>
            </a:r>
            <a:endParaRPr lang="en-US" sz="1500" b="1" dirty="0"/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C389791C-91E2-0A01-5C54-5C10A80636BB}"/>
              </a:ext>
            </a:extLst>
          </p:cNvPr>
          <p:cNvSpPr txBox="1"/>
          <p:nvPr/>
        </p:nvSpPr>
        <p:spPr>
          <a:xfrm>
            <a:off x="7105597" y="2726168"/>
            <a:ext cx="305733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</a:t>
            </a:r>
            <a:r>
              <a:rPr lang="en-US" altLang="ko-KR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1500" b="1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endParaRPr lang="en-US" sz="1500" b="1" dirty="0"/>
          </a:p>
        </p:txBody>
      </p:sp>
      <p:sp>
        <p:nvSpPr>
          <p:cNvPr id="6" name="Object 18">
            <a:extLst>
              <a:ext uri="{FF2B5EF4-FFF2-40B4-BE49-F238E27FC236}">
                <a16:creationId xmlns:a16="http://schemas.microsoft.com/office/drawing/2014/main" id="{AC3265F0-8CEA-816E-8C37-A0893ED1020E}"/>
              </a:ext>
            </a:extLst>
          </p:cNvPr>
          <p:cNvSpPr txBox="1"/>
          <p:nvPr/>
        </p:nvSpPr>
        <p:spPr>
          <a:xfrm>
            <a:off x="3570174" y="4545351"/>
            <a:ext cx="305733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 </a:t>
            </a:r>
            <a:r>
              <a:rPr lang="ko-KR" altLang="en-US" sz="1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 검증</a:t>
            </a:r>
            <a:endParaRPr lang="en-US" sz="1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0E2A-6C0D-71EA-23FE-B137F43C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10A00DD8-EADB-6623-BBFC-C04CF29D3B3B}"/>
              </a:ext>
            </a:extLst>
          </p:cNvPr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492C2B62-5787-BE2E-80DE-3C26C8E92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2351994-6D4E-A656-A16E-4154114FB719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44FDAABB-C0A5-A5FE-4752-28181B72D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B072FBB-81CB-7417-BCCC-75C74A4E5D0B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02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B52A7C4-67F2-5642-033D-B9B1F1EAEAF7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5448348-2608-15D7-C05C-6CF8BDE59F34}"/>
              </a:ext>
            </a:extLst>
          </p:cNvPr>
          <p:cNvSpPr txBox="1"/>
          <p:nvPr/>
        </p:nvSpPr>
        <p:spPr>
          <a:xfrm>
            <a:off x="902038" y="1380907"/>
            <a:ext cx="3065991" cy="21750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01</a:t>
            </a:r>
            <a:endParaRPr lang="en-US" sz="120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9921A13-E995-612D-171D-AA49DD532A4E}"/>
              </a:ext>
            </a:extLst>
          </p:cNvPr>
          <p:cNvSpPr txBox="1"/>
          <p:nvPr/>
        </p:nvSpPr>
        <p:spPr>
          <a:xfrm>
            <a:off x="902038" y="3625080"/>
            <a:ext cx="925743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 dirty="0">
                <a:solidFill>
                  <a:srgbClr val="595959"/>
                </a:solidFill>
                <a:latin typeface="Cafe24 Dangdanghae" pitchFamily="34" charset="0"/>
              </a:rPr>
              <a:t>연구 배경</a:t>
            </a:r>
            <a:endParaRPr lang="en-US" altLang="ko-KR" sz="60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1003" name="그룹 1003">
            <a:extLst>
              <a:ext uri="{FF2B5EF4-FFF2-40B4-BE49-F238E27FC236}">
                <a16:creationId xmlns:a16="http://schemas.microsoft.com/office/drawing/2014/main" id="{6E329FE4-95BA-66CC-1D96-BB983D18CB3E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22541654-5002-8085-DC1E-D11DEAF18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1337DD51-E58F-3A3A-6A2D-75BC51148D14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01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</a:rPr>
              <a:t>연구배경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3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5BAD-9663-044B-58B5-15F9B15E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6C381E6C-6728-B740-760F-015C14452AE5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B788D5A3-1D64-CEFE-5F77-A19B2457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29DA97E-451A-CE34-762A-1E6D12958211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385739E-7AB8-26C9-CCE3-D7399321F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2774192-DA0C-4CA1-9ED0-EB285D5CBDE6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03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0002FB6-5744-61AE-9B36-D1DE1719A90C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ABB75E8-A411-2364-3696-BBDA14740510}"/>
              </a:ext>
            </a:extLst>
          </p:cNvPr>
          <p:cNvSpPr txBox="1"/>
          <p:nvPr/>
        </p:nvSpPr>
        <p:spPr>
          <a:xfrm>
            <a:off x="500631" y="679950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논문 선정 이유</a:t>
            </a:r>
            <a:endParaRPr lang="en-US" sz="3500"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8CFAF3E-674F-5021-2591-03BB3AD87CD0}"/>
              </a:ext>
            </a:extLst>
          </p:cNvPr>
          <p:cNvSpPr txBox="1"/>
          <p:nvPr/>
        </p:nvSpPr>
        <p:spPr>
          <a:xfrm>
            <a:off x="595838" y="1550119"/>
            <a:ext cx="8943578" cy="3735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ko-KR" sz="1667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연합학습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연합학습은 원본 데이터를  각 기기에서 모델을 학습 후 결과를 서버로 보내어  합치는 시스템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데이터를 서버로 보내지 않으니 모델 업데이트가 공격의 대상이 될 수 있음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 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R-</a:t>
            </a:r>
            <a:r>
              <a:rPr lang="en-US" altLang="ko-KR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</a:t>
            </a:r>
            <a:r>
              <a:rPr lang="ko-KR" altLang="en-US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비표적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모델 중독 공격에 대항하는 연합학습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논문에서는 계층적 </a:t>
            </a:r>
            <a:r>
              <a:rPr lang="ko-KR" altLang="en-US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컴퓨팅의 특징을 활용하여 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비표적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모델 중독 공격으로부터 강건한 연합학습 프레임워크 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ko-KR" altLang="en-US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를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제안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200C2C95-5C20-9673-EBAC-5DEF341764B3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01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연구배경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pic>
        <p:nvPicPr>
          <p:cNvPr id="10" name="그림 9" descr="스크린샷, 도표, 원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83C03D-E439-602D-C72A-C24F4270B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590" y="3354370"/>
            <a:ext cx="5050572" cy="300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8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04</a:t>
            </a:r>
            <a:endParaRPr lang="en-US" sz="1200" dirty="0"/>
          </a:p>
        </p:txBody>
      </p:sp>
      <p:sp>
        <p:nvSpPr>
          <p:cNvPr id="9" name="Object 9"/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/>
          <p:cNvSpPr txBox="1"/>
          <p:nvPr/>
        </p:nvSpPr>
        <p:spPr>
          <a:xfrm>
            <a:off x="902038" y="1380907"/>
            <a:ext cx="3065991" cy="21750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02</a:t>
            </a:r>
            <a:endParaRPr lang="en-US" sz="1200" dirty="0"/>
          </a:p>
        </p:txBody>
      </p:sp>
      <p:sp>
        <p:nvSpPr>
          <p:cNvPr id="11" name="Object 11"/>
          <p:cNvSpPr txBox="1"/>
          <p:nvPr/>
        </p:nvSpPr>
        <p:spPr>
          <a:xfrm>
            <a:off x="902038" y="3625080"/>
            <a:ext cx="925743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60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1003" name="그룹 1003"/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2A69C-7478-3105-8AD8-7ADA8BCE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9B315888-4F3D-253B-FE01-36B2411169EB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71AEECA7-3022-F4CB-86C8-EA3FE2AAB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0A36427D-A9AE-0EF2-08A1-95715C5B8A1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A8BA62D-7885-FD7F-1EE4-ABC9628EC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E0A170B-D8D5-E0F5-8196-B874D5425C9A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05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BC86E3D-6087-738B-C2C6-A9CDA0BD1406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05D4653-7AB0-CA29-D05E-D2BFC5F5177C}"/>
              </a:ext>
            </a:extLst>
          </p:cNvPr>
          <p:cNvSpPr txBox="1"/>
          <p:nvPr/>
        </p:nvSpPr>
        <p:spPr>
          <a:xfrm>
            <a:off x="512986" y="784577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FedAvg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알고리즘</a:t>
            </a:r>
            <a:endParaRPr lang="en-US" sz="3500"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79FD7F8-E39C-637D-B260-EAAEF3C3C995}"/>
              </a:ext>
            </a:extLst>
          </p:cNvPr>
          <p:cNvSpPr txBox="1"/>
          <p:nvPr/>
        </p:nvSpPr>
        <p:spPr>
          <a:xfrm>
            <a:off x="512986" y="2000468"/>
            <a:ext cx="8221111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작동 방식</a:t>
            </a:r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서버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-&gt;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클라이언트로 글로벌 모델 배포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클라이언트는 자신의 로컬 데이터를 이용해 여러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local epoch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학습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학습된 전체 모델 파라미터를 서버로 전송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서버는 가중 평균을 적용해 글로벌 모델 업데이트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업데이트된 모델을 다시 클라이언트에게 전달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-&gt;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다음 라운드 반복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84CED334-C25C-B960-ACCA-9088329127D1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46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86F4-FAC4-96D2-F084-01FB8C9F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4C772D0D-E3A4-325A-9E1A-379C47B4F93D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469D3D5E-E712-0820-679E-5A9E71F2A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6F77B834-B343-597B-37D4-070D076D4DC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B43E66B-1F30-674B-1DB7-A80335768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2B5D268-0073-138A-80BF-F8BDE457D30D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06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6FC5F65-F440-5880-B4C1-9CD310F3939C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F491D73-0916-5C10-E7BB-8B51CFE2F971}"/>
              </a:ext>
            </a:extLst>
          </p:cNvPr>
          <p:cNvSpPr txBox="1"/>
          <p:nvPr/>
        </p:nvSpPr>
        <p:spPr>
          <a:xfrm>
            <a:off x="512986" y="721294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FedAvg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알고리즘</a:t>
            </a:r>
            <a:endParaRPr lang="en-US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7515C527-55A5-89F1-5F69-406FBDB96C1E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86A82B6-E4EE-8BB2-80E8-9BFA825DA44D}"/>
              </a:ext>
            </a:extLst>
          </p:cNvPr>
          <p:cNvSpPr/>
          <p:nvPr/>
        </p:nvSpPr>
        <p:spPr>
          <a:xfrm>
            <a:off x="1107927" y="3999722"/>
            <a:ext cx="8949217" cy="153978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3670AFF-DC34-DD29-172C-F98D039F3806}"/>
              </a:ext>
            </a:extLst>
          </p:cNvPr>
          <p:cNvSpPr/>
          <p:nvPr/>
        </p:nvSpPr>
        <p:spPr>
          <a:xfrm>
            <a:off x="1364962" y="4181707"/>
            <a:ext cx="1655705" cy="117581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rgbClr val="595959"/>
                </a:solidFill>
                <a:latin typeface="Cafe24 Dangdanghae" pitchFamily="34" charset="0"/>
              </a:rPr>
              <a:t>장점</a:t>
            </a:r>
            <a:endParaRPr lang="ko-KR" altLang="en-US" sz="3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D2E7712-0BCD-7DB9-C46D-F5294F03FBBB}"/>
              </a:ext>
            </a:extLst>
          </p:cNvPr>
          <p:cNvCxnSpPr/>
          <p:nvPr/>
        </p:nvCxnSpPr>
        <p:spPr>
          <a:xfrm>
            <a:off x="6223052" y="4126246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6E61E7A-6226-FE09-77F7-05AEB6B058F9}"/>
              </a:ext>
            </a:extLst>
          </p:cNvPr>
          <p:cNvSpPr/>
          <p:nvPr/>
        </p:nvSpPr>
        <p:spPr>
          <a:xfrm>
            <a:off x="1107926" y="1835415"/>
            <a:ext cx="8949217" cy="153978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874727-32FF-64F6-75FD-370400B1EDC2}"/>
              </a:ext>
            </a:extLst>
          </p:cNvPr>
          <p:cNvSpPr/>
          <p:nvPr/>
        </p:nvSpPr>
        <p:spPr>
          <a:xfrm>
            <a:off x="1364961" y="2028473"/>
            <a:ext cx="1655705" cy="117581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rgbClr val="595959"/>
                </a:solidFill>
                <a:latin typeface="Cafe24 Dangdanghae" pitchFamily="34" charset="0"/>
              </a:rPr>
              <a:t>단점</a:t>
            </a:r>
            <a:endParaRPr lang="ko-KR" altLang="en-US" sz="3000"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5B3AFE78-348F-3897-DECE-CD96A7A73EF7}"/>
              </a:ext>
            </a:extLst>
          </p:cNvPr>
          <p:cNvSpPr txBox="1"/>
          <p:nvPr/>
        </p:nvSpPr>
        <p:spPr>
          <a:xfrm>
            <a:off x="3698839" y="2182074"/>
            <a:ext cx="1945000" cy="86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공격자가 이상한 파라미터를 보내도 포함됨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61B5F31B-9303-6840-779D-CD17DCCA43B6}"/>
              </a:ext>
            </a:extLst>
          </p:cNvPr>
          <p:cNvSpPr txBox="1"/>
          <p:nvPr/>
        </p:nvSpPr>
        <p:spPr>
          <a:xfrm>
            <a:off x="7190416" y="2438618"/>
            <a:ext cx="2044543" cy="3488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강건성이 매우 낮음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34A8FBFE-0773-10FE-473C-A6DB694991A8}"/>
              </a:ext>
            </a:extLst>
          </p:cNvPr>
          <p:cNvSpPr txBox="1"/>
          <p:nvPr/>
        </p:nvSpPr>
        <p:spPr>
          <a:xfrm>
            <a:off x="3630607" y="4411443"/>
            <a:ext cx="2013230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가장 널리 사용되는 표준 알고리즘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90E65971-8B9A-77B5-F15D-11E31478F961}"/>
              </a:ext>
            </a:extLst>
          </p:cNvPr>
          <p:cNvSpPr txBox="1"/>
          <p:nvPr/>
        </p:nvSpPr>
        <p:spPr>
          <a:xfrm>
            <a:off x="7252025" y="4411443"/>
            <a:ext cx="1921323" cy="86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구조가 단순하고 구현이 매우 쉬움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cxnSp>
        <p:nvCxnSpPr>
          <p:cNvPr id="12" name="직선 연결선 12">
            <a:extLst>
              <a:ext uri="{FF2B5EF4-FFF2-40B4-BE49-F238E27FC236}">
                <a16:creationId xmlns:a16="http://schemas.microsoft.com/office/drawing/2014/main" id="{8ABB4728-0B71-000B-F3F5-202BD12F3FED}"/>
              </a:ext>
            </a:extLst>
          </p:cNvPr>
          <p:cNvCxnSpPr/>
          <p:nvPr/>
        </p:nvCxnSpPr>
        <p:spPr>
          <a:xfrm>
            <a:off x="6208244" y="2017400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16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717D-6D57-3F01-C8DC-67A211ABE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016F2EF1-F8CE-1247-DEA7-D756968D0388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DAB5AEE5-F208-1973-2752-2D9FFF154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4EBBF099-8F05-277F-565F-620B8815685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81E5EA6-893B-D299-D6CB-3A54AB331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C10FA9A-4D2E-FDAB-7741-6D3A584F0EF7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07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6C7B685-E127-4414-6037-C28EA7C7E112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2803F54-A5FB-4D5F-2473-35BF26697C38}"/>
              </a:ext>
            </a:extLst>
          </p:cNvPr>
          <p:cNvSpPr txBox="1"/>
          <p:nvPr/>
        </p:nvSpPr>
        <p:spPr>
          <a:xfrm>
            <a:off x="512987" y="683094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FedPSO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알고리즘</a:t>
            </a:r>
            <a:endParaRPr lang="en-US" sz="3500"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66E4CCA-7346-5020-2FCC-D5FB29C3C8EA}"/>
              </a:ext>
            </a:extLst>
          </p:cNvPr>
          <p:cNvSpPr txBox="1"/>
          <p:nvPr/>
        </p:nvSpPr>
        <p:spPr>
          <a:xfrm>
            <a:off x="512987" y="2000468"/>
            <a:ext cx="7672472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작동 방식</a:t>
            </a:r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서버가 글로벌 모델을 클라이언트에게 배포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클라이언트는 자신의 로컬 데이터로 모델을 학습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클라이언트는 학습된 모델 파라미터를 서버로 전송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각각의 클라이언트를 입자로 보고 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서버는 최적 위치에 수렴하도록 가중치를 조정하며 집계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집계된 결과를 글로벌 모델로 설정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업데이트된 모델을 다시 클라이언트로 배포하며 반복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28063201-909B-B673-07B8-0A84FBA925FA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5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F3EF-D75C-63BC-39A5-81865628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F2A19D7D-8F68-E636-5D77-69085EA06C2A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1650CEE9-56F6-BBDC-97B2-4A990CB5C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68B9E519-3987-14EF-1E34-847A90BBE22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01D80F6F-B0CD-1864-78EB-0BF0D4252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85D430B-C757-DCB1-9F47-CB474BB96537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08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5DF9D8C-5A29-A2E8-0FEB-A28B2476CE8F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C2C46B4-529F-9721-49B8-106A0E27195F}"/>
              </a:ext>
            </a:extLst>
          </p:cNvPr>
          <p:cNvSpPr txBox="1"/>
          <p:nvPr/>
        </p:nvSpPr>
        <p:spPr>
          <a:xfrm>
            <a:off x="512986" y="683094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FedPSO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알고리즘</a:t>
            </a:r>
            <a:endParaRPr lang="en-US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7B9DB160-9D4C-5809-87DE-E63DC7445290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A2E45C3-B2D3-718A-5C00-9892FBE30D48}"/>
              </a:ext>
            </a:extLst>
          </p:cNvPr>
          <p:cNvSpPr/>
          <p:nvPr/>
        </p:nvSpPr>
        <p:spPr>
          <a:xfrm>
            <a:off x="1107926" y="4039455"/>
            <a:ext cx="8949217" cy="153978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F72731-9848-6D18-A5D7-DF4EAC6FB1DA}"/>
              </a:ext>
            </a:extLst>
          </p:cNvPr>
          <p:cNvSpPr/>
          <p:nvPr/>
        </p:nvSpPr>
        <p:spPr>
          <a:xfrm>
            <a:off x="1364961" y="4221440"/>
            <a:ext cx="1655705" cy="117581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rgbClr val="595959"/>
                </a:solidFill>
                <a:latin typeface="Cafe24 Dangdanghae" pitchFamily="34" charset="0"/>
              </a:rPr>
              <a:t>장점</a:t>
            </a:r>
            <a:endParaRPr lang="ko-KR" altLang="en-US" sz="3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8E8289F-4FAB-31CC-33BD-DD59511B5A76}"/>
              </a:ext>
            </a:extLst>
          </p:cNvPr>
          <p:cNvCxnSpPr/>
          <p:nvPr/>
        </p:nvCxnSpPr>
        <p:spPr>
          <a:xfrm>
            <a:off x="6304790" y="4221440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43900A2-D858-172D-C230-C27E11D23211}"/>
              </a:ext>
            </a:extLst>
          </p:cNvPr>
          <p:cNvSpPr/>
          <p:nvPr/>
        </p:nvSpPr>
        <p:spPr>
          <a:xfrm>
            <a:off x="1107926" y="1876069"/>
            <a:ext cx="8949217" cy="153978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AE90157-5922-F4F5-F71F-8452A702342A}"/>
              </a:ext>
            </a:extLst>
          </p:cNvPr>
          <p:cNvSpPr/>
          <p:nvPr/>
        </p:nvSpPr>
        <p:spPr>
          <a:xfrm>
            <a:off x="1364961" y="2058054"/>
            <a:ext cx="1655705" cy="117581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rgbClr val="595959"/>
                </a:solidFill>
                <a:latin typeface="Cafe24 Dangdanghae" pitchFamily="34" charset="0"/>
              </a:rPr>
              <a:t>단점</a:t>
            </a:r>
            <a:endParaRPr lang="ko-KR" altLang="en-US" sz="30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A12D0D1-3FA4-8A77-A6B5-00D51D23DE29}"/>
              </a:ext>
            </a:extLst>
          </p:cNvPr>
          <p:cNvCxnSpPr/>
          <p:nvPr/>
        </p:nvCxnSpPr>
        <p:spPr>
          <a:xfrm>
            <a:off x="6302894" y="2058054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bject 19">
            <a:extLst>
              <a:ext uri="{FF2B5EF4-FFF2-40B4-BE49-F238E27FC236}">
                <a16:creationId xmlns:a16="http://schemas.microsoft.com/office/drawing/2014/main" id="{376FC4BD-A74C-EAD7-9943-47133F2103F3}"/>
              </a:ext>
            </a:extLst>
          </p:cNvPr>
          <p:cNvSpPr txBox="1"/>
          <p:nvPr/>
        </p:nvSpPr>
        <p:spPr>
          <a:xfrm>
            <a:off x="3905005" y="2342995"/>
            <a:ext cx="1921323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모델 중독 공격에 매우 취약함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07F88F08-EBDC-199E-48D3-5ECCA1DC3F78}"/>
              </a:ext>
            </a:extLst>
          </p:cNvPr>
          <p:cNvSpPr txBox="1"/>
          <p:nvPr/>
        </p:nvSpPr>
        <p:spPr>
          <a:xfrm>
            <a:off x="7377382" y="2471267"/>
            <a:ext cx="2237988" cy="3488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강건성이 매우 낮음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D5FB6D2D-3217-75A5-0506-EADEA513BB70}"/>
              </a:ext>
            </a:extLst>
          </p:cNvPr>
          <p:cNvSpPr txBox="1"/>
          <p:nvPr/>
        </p:nvSpPr>
        <p:spPr>
          <a:xfrm>
            <a:off x="3905005" y="4506637"/>
            <a:ext cx="2193541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학습이 잘된 모델을 중심으로 업데이트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6F201280-9551-8C2B-7DF5-29922AFC33A0}"/>
              </a:ext>
            </a:extLst>
          </p:cNvPr>
          <p:cNvSpPr txBox="1"/>
          <p:nvPr/>
        </p:nvSpPr>
        <p:spPr>
          <a:xfrm>
            <a:off x="7171341" y="4506637"/>
            <a:ext cx="2490567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 간 주고받는 데이터의 양이 매우 적음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0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3D00-DCE0-ECAC-57DD-86F6C087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B74BFFDB-118B-DD49-AC54-C952409513C8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A8D5333C-B280-0B31-5EB9-791EA30A4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CEF1704-A2B4-3939-8026-92076CDCDDE0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1772D88-411A-E761-2C87-BB4F39667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3648130-F497-5DF4-8E46-4C061483E8C4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09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07DE6B4-EF40-CFED-9F44-D5E517E2CCFF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B73DD10-958C-6D5D-7EA0-CCD5F015DB53}"/>
              </a:ext>
            </a:extLst>
          </p:cNvPr>
          <p:cNvSpPr txBox="1"/>
          <p:nvPr/>
        </p:nvSpPr>
        <p:spPr>
          <a:xfrm>
            <a:off x="512987" y="793591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R-</a:t>
            </a:r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FedLayer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알고리즘</a:t>
            </a:r>
            <a:endParaRPr lang="en-US" sz="3500"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D807AD1-BDD9-228D-C0B2-8E4088B25DE5}"/>
              </a:ext>
            </a:extLst>
          </p:cNvPr>
          <p:cNvSpPr txBox="1"/>
          <p:nvPr/>
        </p:nvSpPr>
        <p:spPr>
          <a:xfrm>
            <a:off x="512987" y="2000468"/>
            <a:ext cx="7672472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작동 방식</a:t>
            </a:r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클라우드 서버가 글로벌 모델을 모든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서버에게 배포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서버는 받은 모델을 소속 클라이언트들에게 배포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클라이언트는 로컬 데이터를 이용하여 모델을 학습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학습된 전체 모델이 아닌 일부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만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서버로 전송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서버는 받은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를 통합하여 하나의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모델 생성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Score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산출후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클라우드 서버로 전송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클라우드 서버는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score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가 높은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서버를 글로벌 모델로 설정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다음 라운드에 다시 반복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AutoNum type="arabicPeriod"/>
            </a:pP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3BF24D31-6C58-06B6-16C3-E481E5CB2A02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70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0673-D0F5-0579-8FDB-D8EF966C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E916E924-9F0D-B4C3-865C-B06E849E8767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76FCBCC7-90E9-3C54-16D1-8616F699B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9D407AEC-4654-5ACC-CFF6-16B71776B9F6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01E0AFB-8865-5634-AE82-167F18EC1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43D0101-3E74-E287-FD2B-51B127865B5E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10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D4EF09A-32B3-5C9F-F6B1-362C0754F951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3D38C45-811F-204A-30E3-DF546436B87A}"/>
              </a:ext>
            </a:extLst>
          </p:cNvPr>
          <p:cNvSpPr txBox="1"/>
          <p:nvPr/>
        </p:nvSpPr>
        <p:spPr>
          <a:xfrm>
            <a:off x="512986" y="683094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R-</a:t>
            </a:r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FedLayer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알고리즘</a:t>
            </a:r>
            <a:endParaRPr lang="en-US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6D036EEB-F4ED-A9AA-FD9D-09BE371E8AEA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02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이론 배경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D516360-0DF9-BAD2-671B-EA7D5D2B0A50}"/>
              </a:ext>
            </a:extLst>
          </p:cNvPr>
          <p:cNvSpPr/>
          <p:nvPr/>
        </p:nvSpPr>
        <p:spPr>
          <a:xfrm>
            <a:off x="512986" y="4143149"/>
            <a:ext cx="9461307" cy="153978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EBDF53-6985-6F4D-C8C7-A70A8B75221F}"/>
              </a:ext>
            </a:extLst>
          </p:cNvPr>
          <p:cNvSpPr/>
          <p:nvPr/>
        </p:nvSpPr>
        <p:spPr>
          <a:xfrm>
            <a:off x="770021" y="4325134"/>
            <a:ext cx="1655705" cy="117581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rgbClr val="595959"/>
                </a:solidFill>
                <a:latin typeface="Cafe24 Dangdanghae" pitchFamily="34" charset="0"/>
              </a:rPr>
              <a:t>장점</a:t>
            </a:r>
            <a:endParaRPr lang="ko-KR" altLang="en-US" sz="3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EC504B-9C6F-2FCD-166E-4B4456111DD4}"/>
              </a:ext>
            </a:extLst>
          </p:cNvPr>
          <p:cNvCxnSpPr/>
          <p:nvPr/>
        </p:nvCxnSpPr>
        <p:spPr>
          <a:xfrm>
            <a:off x="4904762" y="4338915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39D592-733B-FCE8-7C0C-376D7661B1E1}"/>
              </a:ext>
            </a:extLst>
          </p:cNvPr>
          <p:cNvCxnSpPr/>
          <p:nvPr/>
        </p:nvCxnSpPr>
        <p:spPr>
          <a:xfrm>
            <a:off x="7246647" y="4338915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957498C-554F-284F-5101-C0292EE05230}"/>
              </a:ext>
            </a:extLst>
          </p:cNvPr>
          <p:cNvSpPr/>
          <p:nvPr/>
        </p:nvSpPr>
        <p:spPr>
          <a:xfrm>
            <a:off x="512986" y="1979763"/>
            <a:ext cx="9461307" cy="153978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283A895-FBF4-4CA5-3007-721963C25F80}"/>
              </a:ext>
            </a:extLst>
          </p:cNvPr>
          <p:cNvSpPr/>
          <p:nvPr/>
        </p:nvSpPr>
        <p:spPr>
          <a:xfrm>
            <a:off x="738385" y="2161492"/>
            <a:ext cx="1655705" cy="117581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rgbClr val="595959"/>
                </a:solidFill>
                <a:latin typeface="Cafe24 Dangdanghae" pitchFamily="34" charset="0"/>
              </a:rPr>
              <a:t>단점</a:t>
            </a:r>
            <a:endParaRPr lang="ko-KR" altLang="en-US" sz="30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457EBD1-B53F-38E9-0AB8-91E273F338CB}"/>
              </a:ext>
            </a:extLst>
          </p:cNvPr>
          <p:cNvCxnSpPr/>
          <p:nvPr/>
        </p:nvCxnSpPr>
        <p:spPr>
          <a:xfrm>
            <a:off x="6296959" y="2161748"/>
            <a:ext cx="0" cy="11758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bject 19">
            <a:extLst>
              <a:ext uri="{FF2B5EF4-FFF2-40B4-BE49-F238E27FC236}">
                <a16:creationId xmlns:a16="http://schemas.microsoft.com/office/drawing/2014/main" id="{83CF1FFE-B7C3-9EFE-B94C-7D54113D7619}"/>
              </a:ext>
            </a:extLst>
          </p:cNvPr>
          <p:cNvSpPr txBox="1"/>
          <p:nvPr/>
        </p:nvSpPr>
        <p:spPr>
          <a:xfrm>
            <a:off x="3384863" y="2446689"/>
            <a:ext cx="1921323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일부 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layer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만 전달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-&gt; 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정보 손실 위험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9493752-D1E2-26C2-CAA6-259574E24785}"/>
              </a:ext>
            </a:extLst>
          </p:cNvPr>
          <p:cNvSpPr txBox="1"/>
          <p:nvPr/>
        </p:nvSpPr>
        <p:spPr>
          <a:xfrm>
            <a:off x="7246647" y="2446689"/>
            <a:ext cx="1921323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Edge 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서버의 계산 부담 증가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E287A2DE-AA03-31A4-CF13-59B5BBA6E2BF}"/>
              </a:ext>
            </a:extLst>
          </p:cNvPr>
          <p:cNvSpPr txBox="1"/>
          <p:nvPr/>
        </p:nvSpPr>
        <p:spPr>
          <a:xfrm>
            <a:off x="2595218" y="4535595"/>
            <a:ext cx="2291077" cy="86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모델 중독 공격에 </a:t>
            </a:r>
            <a:b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</a:b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대해 매우 높은 강건성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95CF1DDC-B781-DC82-B8F9-DF4A0E7741A5}"/>
              </a:ext>
            </a:extLst>
          </p:cNvPr>
          <p:cNvSpPr txBox="1"/>
          <p:nvPr/>
        </p:nvSpPr>
        <p:spPr>
          <a:xfrm>
            <a:off x="5121544" y="4495840"/>
            <a:ext cx="1921323" cy="86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 전체 모델이 아닌 일부 </a:t>
            </a:r>
            <a:r>
              <a:rPr lang="en-US" altLang="ko-KR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layer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만 전송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4" name="Object 19">
            <a:extLst>
              <a:ext uri="{FF2B5EF4-FFF2-40B4-BE49-F238E27FC236}">
                <a16:creationId xmlns:a16="http://schemas.microsoft.com/office/drawing/2014/main" id="{56651BDD-7467-8B8B-BEB1-FB99BEA5CC8B}"/>
              </a:ext>
            </a:extLst>
          </p:cNvPr>
          <p:cNvSpPr txBox="1"/>
          <p:nvPr/>
        </p:nvSpPr>
        <p:spPr>
          <a:xfrm>
            <a:off x="7453116" y="4624112"/>
            <a:ext cx="2014293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계층적 </a:t>
            </a:r>
            <a:r>
              <a:rPr lang="ko-KR" altLang="en-US" sz="1667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16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컴퓨팅 구조 최적화</a:t>
            </a:r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789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BAC1-0CE8-AAC8-1768-55628617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B3863E31-871F-6BCB-3F27-78434A6843B4}"/>
              </a:ext>
            </a:extLst>
          </p:cNvPr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3ED37419-D2CB-7EFA-D2F8-96E460A6A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71369F4-B9AA-19F7-6294-B1ED0C1F2808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D83FF72-B8C7-6F96-CDF9-0FDBFC063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A380E11-E725-B1AA-2ECD-EAB30ED94EDE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11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E99FB6F-757C-0EC3-FAC0-33A7457D6755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4F04798-9737-E6C2-EA23-00AF418AE2BA}"/>
              </a:ext>
            </a:extLst>
          </p:cNvPr>
          <p:cNvSpPr txBox="1"/>
          <p:nvPr/>
        </p:nvSpPr>
        <p:spPr>
          <a:xfrm>
            <a:off x="902038" y="1380907"/>
            <a:ext cx="3065991" cy="21750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03</a:t>
            </a:r>
            <a:endParaRPr lang="en-US" sz="120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D1DF716-66D5-80F3-ED75-CB4C524C990A}"/>
              </a:ext>
            </a:extLst>
          </p:cNvPr>
          <p:cNvSpPr txBox="1"/>
          <p:nvPr/>
        </p:nvSpPr>
        <p:spPr>
          <a:xfrm>
            <a:off x="902038" y="3625080"/>
            <a:ext cx="925743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 dirty="0">
                <a:solidFill>
                  <a:srgbClr val="595959"/>
                </a:solidFill>
                <a:latin typeface="Cafe24 Dangdanghae" pitchFamily="34" charset="0"/>
              </a:rPr>
              <a:t>논문 모델 </a:t>
            </a:r>
            <a:r>
              <a:rPr lang="ko-KR" altLang="en-US" sz="600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60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1003" name="그룹 1003">
            <a:extLst>
              <a:ext uri="{FF2B5EF4-FFF2-40B4-BE49-F238E27FC236}">
                <a16:creationId xmlns:a16="http://schemas.microsoft.com/office/drawing/2014/main" id="{52B4848A-458F-FB8F-6312-33696B01335C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8E86B19F-3CC3-91D6-934A-744AF449C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BF210503-BDF7-FC82-1E74-F13A66F2D9F5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1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1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1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10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2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207B-C17B-67B1-0547-59A2D3E0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7F9A43D4-0C34-816A-FA52-79E7373373AD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4561C70A-6344-B8D4-F812-69667CB04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8FD7785-C34B-13A8-7693-55364C37E495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12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807C048-60F7-5761-3851-C148E70741FB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197485E-5C73-EA1F-9D29-57A98D5D9740}"/>
              </a:ext>
            </a:extLst>
          </p:cNvPr>
          <p:cNvSpPr txBox="1"/>
          <p:nvPr/>
        </p:nvSpPr>
        <p:spPr>
          <a:xfrm>
            <a:off x="285870" y="313762"/>
            <a:ext cx="6818706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실험 데이터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(CIFAR-10)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 요약</a:t>
            </a:r>
            <a:endParaRPr lang="en-US" sz="3500" dirty="0"/>
          </a:p>
        </p:txBody>
      </p:sp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1EF52969-97E1-F9B4-B18E-B68CD156646A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3D3332BF-4483-70C0-6922-9F6FBF5FA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7C7A76F0-2D57-D23A-D08C-C585F71EF925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8A84B38-C281-C825-DF87-BC99A99EF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21006"/>
              </p:ext>
            </p:extLst>
          </p:nvPr>
        </p:nvGraphicFramePr>
        <p:xfrm>
          <a:off x="3383028" y="1229351"/>
          <a:ext cx="5425944" cy="454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972">
                  <a:extLst>
                    <a:ext uri="{9D8B030D-6E8A-4147-A177-3AD203B41FA5}">
                      <a16:colId xmlns:a16="http://schemas.microsoft.com/office/drawing/2014/main" val="2010207185"/>
                    </a:ext>
                  </a:extLst>
                </a:gridCol>
                <a:gridCol w="2712972">
                  <a:extLst>
                    <a:ext uri="{9D8B030D-6E8A-4147-A177-3AD203B41FA5}">
                      <a16:colId xmlns:a16="http://schemas.microsoft.com/office/drawing/2014/main" val="1043615926"/>
                    </a:ext>
                  </a:extLst>
                </a:gridCol>
              </a:tblGrid>
              <a:tr h="8370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데이터셋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CIFAR-10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24834"/>
                  </a:ext>
                </a:extLst>
              </a:tr>
              <a:tr h="7425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이미지 크기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32x32 RGB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52368"/>
                  </a:ext>
                </a:extLst>
              </a:tr>
              <a:tr h="7425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학습용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50,000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10146"/>
                  </a:ext>
                </a:extLst>
              </a:tr>
              <a:tr h="7425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검증용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10,000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763386"/>
                  </a:ext>
                </a:extLst>
              </a:tr>
              <a:tr h="7425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테스트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10,000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964429"/>
                  </a:ext>
                </a:extLst>
              </a:tr>
              <a:tr h="7425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용도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이미지 분류 실험에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29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1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13</a:t>
            </a:r>
            <a:endParaRPr lang="en-US" sz="1200" dirty="0"/>
          </a:p>
        </p:txBody>
      </p:sp>
      <p:sp>
        <p:nvSpPr>
          <p:cNvPr id="9" name="Object 9"/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/>
          <p:cNvSpPr txBox="1"/>
          <p:nvPr/>
        </p:nvSpPr>
        <p:spPr>
          <a:xfrm>
            <a:off x="285870" y="364994"/>
            <a:ext cx="6818706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VGG19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 모델 구조 요약</a:t>
            </a:r>
            <a:endParaRPr lang="en-US" sz="35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45B3A7E-69FD-59BE-993C-1150BEFDC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574890"/>
              </p:ext>
            </p:extLst>
          </p:nvPr>
        </p:nvGraphicFramePr>
        <p:xfrm>
          <a:off x="3141076" y="1219200"/>
          <a:ext cx="5909848" cy="476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924">
                  <a:extLst>
                    <a:ext uri="{9D8B030D-6E8A-4147-A177-3AD203B41FA5}">
                      <a16:colId xmlns:a16="http://schemas.microsoft.com/office/drawing/2014/main" val="2010207185"/>
                    </a:ext>
                  </a:extLst>
                </a:gridCol>
                <a:gridCol w="2954924">
                  <a:extLst>
                    <a:ext uri="{9D8B030D-6E8A-4147-A177-3AD203B41FA5}">
                      <a16:colId xmlns:a16="http://schemas.microsoft.com/office/drawing/2014/main" val="1043615926"/>
                    </a:ext>
                  </a:extLst>
                </a:gridCol>
              </a:tblGrid>
              <a:tr h="64156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모델 구조</a:t>
                      </a:r>
                      <a:endParaRPr lang="en-US" altLang="ko-K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VGG19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24834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Cov Layer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52368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Layer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채널 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64x2, 128x2, 256x4, 512x8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10146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Pooling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2x2 Max Pooling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763386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원본 입력 크기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224x224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964429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실험을 위한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32x32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29512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전체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74656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Learning rate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0.0025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35284"/>
                  </a:ext>
                </a:extLst>
              </a:tr>
            </a:tbl>
          </a:graphicData>
        </a:graphic>
      </p:graphicFrame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CC2412C6-77D7-F650-4E0A-77E2CF8FFE58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DD30A62A-A94B-FB62-75FF-1755A9A4D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33B29411-ED5E-ED19-A09F-0ABE268EA46A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17C19-C8F2-EC4F-79EA-CA27A017E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3F011A7B-55DF-DDBA-2B76-E2CFE0061490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328C82E7-608D-34CB-DB35-7295FF75F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AD5260E-F3A0-E8F6-3670-7BA8BF269053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14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04FE6AD-1956-45EA-BF42-7308AB53F81F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79DADE3-FD8E-A6DD-D2E1-914028C4C58B}"/>
              </a:ext>
            </a:extLst>
          </p:cNvPr>
          <p:cNvSpPr txBox="1"/>
          <p:nvPr/>
        </p:nvSpPr>
        <p:spPr>
          <a:xfrm>
            <a:off x="285565" y="364994"/>
            <a:ext cx="7594267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연합학습 </a:t>
            </a:r>
            <a:r>
              <a:rPr lang="ko-KR" altLang="en-US" sz="3500" dirty="0" err="1">
                <a:solidFill>
                  <a:srgbClr val="595959"/>
                </a:solidFill>
                <a:latin typeface="Cafe24 Dangdanghae" pitchFamily="34" charset="0"/>
              </a:rPr>
              <a:t>하이퍼파라미터</a:t>
            </a:r>
            <a:endParaRPr lang="en-US" sz="35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7D74571-AC87-0D24-4852-FEB8FBE17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490221"/>
              </p:ext>
            </p:extLst>
          </p:nvPr>
        </p:nvGraphicFramePr>
        <p:xfrm>
          <a:off x="1144395" y="1557552"/>
          <a:ext cx="9232641" cy="3642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547">
                  <a:extLst>
                    <a:ext uri="{9D8B030D-6E8A-4147-A177-3AD203B41FA5}">
                      <a16:colId xmlns:a16="http://schemas.microsoft.com/office/drawing/2014/main" val="2010207185"/>
                    </a:ext>
                  </a:extLst>
                </a:gridCol>
                <a:gridCol w="3077547">
                  <a:extLst>
                    <a:ext uri="{9D8B030D-6E8A-4147-A177-3AD203B41FA5}">
                      <a16:colId xmlns:a16="http://schemas.microsoft.com/office/drawing/2014/main" val="1043615926"/>
                    </a:ext>
                  </a:extLst>
                </a:gridCol>
                <a:gridCol w="3077547">
                  <a:extLst>
                    <a:ext uri="{9D8B030D-6E8A-4147-A177-3AD203B41FA5}">
                      <a16:colId xmlns:a16="http://schemas.microsoft.com/office/drawing/2014/main" val="681914827"/>
                    </a:ext>
                  </a:extLst>
                </a:gridCol>
              </a:tblGrid>
              <a:tr h="9706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              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연합학습 구조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파라미터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서버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클라이언트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계층적 </a:t>
                      </a:r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</a:rPr>
                        <a:t>엣지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 컴퓨팅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24834"/>
                  </a:ext>
                </a:extLst>
              </a:tr>
              <a:tr h="5343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Edge-Server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 or 2~5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52368"/>
                  </a:ext>
                </a:extLst>
              </a:tr>
              <a:tr h="5343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(Edge-Server)*5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10146"/>
                  </a:ext>
                </a:extLst>
              </a:tr>
              <a:tr h="5343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Epoch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763386"/>
                  </a:ext>
                </a:extLst>
              </a:tr>
              <a:tr h="5343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Client-Epoch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964429"/>
                  </a:ext>
                </a:extLst>
              </a:tr>
              <a:tr h="5343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Batch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29512"/>
                  </a:ext>
                </a:extLst>
              </a:tr>
            </a:tbl>
          </a:graphicData>
        </a:graphic>
      </p:graphicFrame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3AE0477A-68B7-0BA1-BAFF-64CFCB7A0FC0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DE5A19B8-D03D-50BF-0E2E-56C24FEE8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9DC60C52-4DF1-F559-7CAC-883E11FB88BD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386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FEEC-EB3C-CF84-0E7D-A061A7C5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3A806224-6DC9-7BDA-4091-59ABF3B2656A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55F7961C-FE83-EF00-F81E-72A42AA05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816241F-6A8C-2F6F-909C-5D1D272C829D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15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5499ADA-0398-7716-8991-93C1559A7195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6D886C4-4A90-E621-075D-D786B2ACE66C}"/>
              </a:ext>
            </a:extLst>
          </p:cNvPr>
          <p:cNvSpPr txBox="1"/>
          <p:nvPr/>
        </p:nvSpPr>
        <p:spPr>
          <a:xfrm>
            <a:off x="285565" y="536292"/>
            <a:ext cx="7594267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공격자 설정</a:t>
            </a:r>
            <a:endParaRPr lang="en-US" sz="3500" dirty="0"/>
          </a:p>
        </p:txBody>
      </p:sp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EE63F645-C4D6-ECDA-ADFB-E11575860017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1526B9B3-BAF2-5A38-B339-F585C5AC7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5707CFA6-245A-3B91-6228-33E85F1488E6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2" name="Object 19">
            <a:extLst>
              <a:ext uri="{FF2B5EF4-FFF2-40B4-BE49-F238E27FC236}">
                <a16:creationId xmlns:a16="http://schemas.microsoft.com/office/drawing/2014/main" id="{DCF944D7-6C2D-F00B-374E-5AE499787330}"/>
              </a:ext>
            </a:extLst>
          </p:cNvPr>
          <p:cNvSpPr txBox="1"/>
          <p:nvPr/>
        </p:nvSpPr>
        <p:spPr>
          <a:xfrm>
            <a:off x="512987" y="2000468"/>
            <a:ext cx="7672472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9">
                <a:extLst>
                  <a:ext uri="{FF2B5EF4-FFF2-40B4-BE49-F238E27FC236}">
                    <a16:creationId xmlns:a16="http://schemas.microsoft.com/office/drawing/2014/main" id="{95E7A8A7-F25A-C580-261E-F8C20A0A1B0C}"/>
                  </a:ext>
                </a:extLst>
              </p:cNvPr>
              <p:cNvSpPr txBox="1"/>
              <p:nvPr/>
            </p:nvSpPr>
            <p:spPr>
              <a:xfrm>
                <a:off x="473883" y="1519318"/>
                <a:ext cx="9983909" cy="38604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ko-KR" altLang="en-US" sz="2000" dirty="0">
                    <a:solidFill>
                      <a:srgbClr val="595959"/>
                    </a:solidFill>
                  </a:rPr>
                  <a:t>정상 업데이트 방향</a:t>
                </a:r>
                <a:endParaRPr lang="en-US" altLang="ko-KR" sz="2000" dirty="0">
                  <a:solidFill>
                    <a:srgbClr val="595959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ko-KR" sz="2000" smtClean="0"/>
                        <m:t>Δ</m:t>
                      </m:r>
                      <m:r>
                        <m:rPr>
                          <m:nor/>
                        </m:rPr>
                        <a:rPr lang="en-US" altLang="ko-KR" sz="2000" b="0" i="0" smtClean="0"/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r>
                  <a:rPr lang="ko-KR" altLang="en-US" sz="2000" dirty="0">
                    <a:solidFill>
                      <a:srgbClr val="595959"/>
                    </a:solidFill>
                    <a:latin typeface="S-Core Dream 4 Regular" pitchFamily="34" charset="0"/>
                    <a:cs typeface="S-Core Dream 4 Regular" pitchFamily="34" charset="0"/>
                  </a:rPr>
                  <a:t>공격자 업데이트 방향</a:t>
                </a:r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𝑝𝑜𝑖𝑠𝑜𝑛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2000" b="0" i="0" smtClean="0"/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l-GR" altLang="ko-KR" sz="2000" smtClean="0"/>
                        <m:t>Δ</m:t>
                      </m:r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2000" b="0" i="0" smtClean="0"/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/>
              </a:p>
              <a:p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  <a:p>
                <a:r>
                  <a:rPr lang="en-US" altLang="ko-KR" sz="2000" dirty="0">
                    <a:solidFill>
                      <a:srgbClr val="595959"/>
                    </a:solidFill>
                    <a:latin typeface="S-Core Dream 4 Regular" pitchFamily="34" charset="0"/>
                    <a:cs typeface="S-Core Dream 4 Regular" pitchFamily="34" charset="0"/>
                    <a:sym typeface="Wingdings" pitchFamily="2" charset="2"/>
                  </a:rPr>
                  <a:t></a:t>
                </a:r>
                <a:r>
                  <a:rPr lang="en-US" altLang="ko-KR" sz="2000" dirty="0">
                    <a:solidFill>
                      <a:srgbClr val="595959"/>
                    </a:solidFill>
                    <a:latin typeface="S-Core Dream 4 Regular" pitchFamily="34" charset="0"/>
                    <a:cs typeface="S-Core Dream 4 Regular" pitchFamily="34" charset="0"/>
                  </a:rPr>
                  <a:t> </a:t>
                </a:r>
                <a:r>
                  <a:rPr lang="ko-KR" altLang="en-US" sz="2000" dirty="0">
                    <a:solidFill>
                      <a:srgbClr val="595959"/>
                    </a:solidFill>
                    <a:latin typeface="S-Core Dream 4 Regular" pitchFamily="34" charset="0"/>
                    <a:cs typeface="S-Core Dream 4 Regular" pitchFamily="34" charset="0"/>
                  </a:rPr>
                  <a:t>정상 클라이언트의 방향의 반대로 </a:t>
                </a:r>
                <a:r>
                  <a:rPr lang="en-US" altLang="ko-KR" sz="2000" dirty="0">
                    <a:solidFill>
                      <a:srgbClr val="595959"/>
                    </a:solidFill>
                    <a:latin typeface="S-Core Dream 4 Regular" pitchFamily="34" charset="0"/>
                    <a:cs typeface="S-Core Dream 4 Regular" pitchFamily="34" charset="0"/>
                  </a:rPr>
                  <a:t>a</a:t>
                </a:r>
                <a:r>
                  <a:rPr lang="ko-KR" altLang="en-US" sz="2000" dirty="0">
                    <a:solidFill>
                      <a:srgbClr val="595959"/>
                    </a:solidFill>
                    <a:latin typeface="S-Core Dream 4 Regular" pitchFamily="34" charset="0"/>
                    <a:cs typeface="S-Core Dream 4 Regular" pitchFamily="34" charset="0"/>
                  </a:rPr>
                  <a:t>배 더 크게 끌어당기는 역할</a:t>
                </a:r>
                <a:endParaRPr lang="en-US" altLang="ko-KR" sz="2000" dirty="0">
                  <a:solidFill>
                    <a:srgbClr val="595959"/>
                  </a:solidFill>
                  <a:latin typeface="S-Core Dream 4 Regular" pitchFamily="34" charset="0"/>
                  <a:cs typeface="S-Core Dream 4 Regular" pitchFamily="34" charset="0"/>
                </a:endParaRPr>
              </a:p>
            </p:txBody>
          </p:sp>
        </mc:Choice>
        <mc:Fallback xmlns="">
          <p:sp>
            <p:nvSpPr>
              <p:cNvPr id="4" name="Object 19">
                <a:extLst>
                  <a:ext uri="{FF2B5EF4-FFF2-40B4-BE49-F238E27FC236}">
                    <a16:creationId xmlns:a16="http://schemas.microsoft.com/office/drawing/2014/main" id="{95E7A8A7-F25A-C580-261E-F8C20A0A1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83" y="1519318"/>
                <a:ext cx="9983909" cy="3860480"/>
              </a:xfrm>
              <a:prstGeom prst="rect">
                <a:avLst/>
              </a:prstGeom>
              <a:blipFill>
                <a:blip r:embed="rId5"/>
                <a:stretch>
                  <a:fillRect l="-635" t="-656" b="-19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833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A6A9-830C-EE49-0F8B-7481DCCA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05F0CE05-8503-FB3F-97EF-7F4B2865CF74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7CC7BB51-983E-0DDE-3DF5-19FB5BE77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CA3B48EA-0D73-2098-93AA-75E2E024F89C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16</a:t>
            </a:r>
            <a:endParaRPr lang="en-US" sz="1200" dirty="0"/>
          </a:p>
        </p:txBody>
      </p: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C8EFA6AB-ADC0-602D-5B48-ECCD1DF2C568}"/>
              </a:ext>
            </a:extLst>
          </p:cNvPr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00B4E50-EEB8-8461-CA62-16C0A2043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01FE5DAA-73C4-1172-634D-6183F24CB7C0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0F764C7-1FF9-969E-A6D3-2931DA41935F}"/>
              </a:ext>
            </a:extLst>
          </p:cNvPr>
          <p:cNvSpPr txBox="1"/>
          <p:nvPr/>
        </p:nvSpPr>
        <p:spPr>
          <a:xfrm>
            <a:off x="512987" y="683094"/>
            <a:ext cx="8187676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실험 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1.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기존 연합학습 알고리즘과 </a:t>
            </a:r>
            <a:b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</a:b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R-</a:t>
            </a:r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FedLayer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비교 </a:t>
            </a:r>
            <a:endParaRPr lang="en-US" altLang="ko-KR" sz="3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6" name="그룹 1003">
            <a:extLst>
              <a:ext uri="{FF2B5EF4-FFF2-40B4-BE49-F238E27FC236}">
                <a16:creationId xmlns:a16="http://schemas.microsoft.com/office/drawing/2014/main" id="{09657BE5-78E5-3E64-6237-E123AFD372A4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8" name="Object 13">
              <a:extLst>
                <a:ext uri="{FF2B5EF4-FFF2-40B4-BE49-F238E27FC236}">
                  <a16:creationId xmlns:a16="http://schemas.microsoft.com/office/drawing/2014/main" id="{CFFE9C84-FB04-9306-9706-212AB326B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2" name="Object 13">
            <a:extLst>
              <a:ext uri="{FF2B5EF4-FFF2-40B4-BE49-F238E27FC236}">
                <a16:creationId xmlns:a16="http://schemas.microsoft.com/office/drawing/2014/main" id="{E10BF949-A26E-4C55-DA8F-73C6438A84F4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2DFA8A61-9573-4577-2462-793C1699A14B}"/>
              </a:ext>
            </a:extLst>
          </p:cNvPr>
          <p:cNvSpPr txBox="1"/>
          <p:nvPr/>
        </p:nvSpPr>
        <p:spPr>
          <a:xfrm>
            <a:off x="512987" y="2347162"/>
            <a:ext cx="8775391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목적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R-</a:t>
            </a:r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가 기존 연합학습보다 공격에 얼마나 강건한지 평가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방식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동일한 모델과 동일한 데이터를 사용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세 알고리즘을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Clean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환경 및 공격 비율을 조정하여 학습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각 알고리즘의 최종 정확도 및 평균 성능 변화량 비교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25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9E18-6074-D874-0468-10205EC7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86554629-D31E-6C2F-1C75-0C55D44AB83B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20E5EBFB-C065-8CFE-4693-DE0D4CC15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CA84FD53-5477-879A-8EF6-5C309D8F4313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AF56492-1808-5D9A-6703-820F98B28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496D179-D2FA-1714-4407-42F5689AEAEB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17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3D667F4-B41E-F54F-7F40-266A74FA8ED0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8C3FD31-A88B-42EF-F19D-EC53CC484933}"/>
              </a:ext>
            </a:extLst>
          </p:cNvPr>
          <p:cNvSpPr txBox="1"/>
          <p:nvPr/>
        </p:nvSpPr>
        <p:spPr>
          <a:xfrm>
            <a:off x="826157" y="685723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각 공격 </a:t>
            </a:r>
            <a:r>
              <a:rPr lang="ko-KR" altLang="en-US" sz="3500" dirty="0" err="1">
                <a:solidFill>
                  <a:srgbClr val="595959"/>
                </a:solidFill>
                <a:latin typeface="Cafe24 Dangdanghae" pitchFamily="34" charset="0"/>
              </a:rPr>
              <a:t>비율별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 정확도 성능</a:t>
            </a:r>
            <a:endParaRPr lang="en-US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8E445434-73C2-904E-E14C-4A2A93927917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48BED40F-7AD3-73BE-9342-3D6F1BEBD5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2250458"/>
              </p:ext>
            </p:extLst>
          </p:nvPr>
        </p:nvGraphicFramePr>
        <p:xfrm>
          <a:off x="5981067" y="1700831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0190590B-071C-D044-1DF2-33B2C0C6A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248284"/>
              </p:ext>
            </p:extLst>
          </p:nvPr>
        </p:nvGraphicFramePr>
        <p:xfrm>
          <a:off x="826157" y="1758717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13482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D526-2D1A-5274-679C-42E955A2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AA9617B0-12D8-CEEB-0639-53516DDB6871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436F5642-EFE2-A2EE-05F9-BC2378B5B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5C429E95-56C5-BD33-FC03-0C760C03CB21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BC02CF1E-2EE6-3F6F-EAE7-46319D034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F39C77B-F627-9F73-A514-5FF37C38660A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18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1705142-762D-A918-E581-0C85851A8062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DDE80EA-1209-90FC-527C-F2C710D3B98E}"/>
              </a:ext>
            </a:extLst>
          </p:cNvPr>
          <p:cNvSpPr txBox="1"/>
          <p:nvPr/>
        </p:nvSpPr>
        <p:spPr>
          <a:xfrm>
            <a:off x="826157" y="683094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각 공격 비율별 정확도 성능</a:t>
            </a:r>
            <a:endParaRPr lang="en-US" altLang="ko-KR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9D9F6064-E1B2-C7FA-57E2-2C4FB2C2EB1F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C7DE4B8D-A1C0-6B8C-A32F-2F0FEE138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7642504"/>
              </p:ext>
            </p:extLst>
          </p:nvPr>
        </p:nvGraphicFramePr>
        <p:xfrm>
          <a:off x="5981067" y="1700831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11D237B4-3169-A829-EC8D-88598B5797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1606517"/>
              </p:ext>
            </p:extLst>
          </p:nvPr>
        </p:nvGraphicFramePr>
        <p:xfrm>
          <a:off x="826157" y="1758717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38790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2A39E-FFC4-6A22-2899-7C9D778E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38405CBB-39F5-7A4B-59BA-5BA81E1A03C7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56355428-33DB-E667-76A6-7327935D1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EFB967F0-36E5-F030-257C-D60E8B0A72F2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39FD046A-138C-F21C-7460-19A261C34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8FB6048-DC34-1164-CE15-6FFFE62AF111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19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1C3DD37-4F89-5534-8BFA-20F67F93D776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4303AE4-4851-9209-5A64-AD563594A4EC}"/>
              </a:ext>
            </a:extLst>
          </p:cNvPr>
          <p:cNvSpPr txBox="1"/>
          <p:nvPr/>
        </p:nvSpPr>
        <p:spPr>
          <a:xfrm>
            <a:off x="914736" y="782482"/>
            <a:ext cx="8550106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평균 정확도 및 평균 성능 변화량</a:t>
            </a:r>
            <a:endParaRPr lang="en-US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3CBB1C34-10A9-947D-4B56-E8F8608D53C5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FFDF302-28D5-2560-2402-5973F8772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74681"/>
              </p:ext>
            </p:extLst>
          </p:nvPr>
        </p:nvGraphicFramePr>
        <p:xfrm>
          <a:off x="914736" y="1999209"/>
          <a:ext cx="9449138" cy="200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948">
                  <a:extLst>
                    <a:ext uri="{9D8B030D-6E8A-4147-A177-3AD203B41FA5}">
                      <a16:colId xmlns:a16="http://schemas.microsoft.com/office/drawing/2014/main" val="2010207185"/>
                    </a:ext>
                  </a:extLst>
                </a:gridCol>
                <a:gridCol w="1507838">
                  <a:extLst>
                    <a:ext uri="{9D8B030D-6E8A-4147-A177-3AD203B41FA5}">
                      <a16:colId xmlns:a16="http://schemas.microsoft.com/office/drawing/2014/main" val="1043615926"/>
                    </a:ext>
                  </a:extLst>
                </a:gridCol>
                <a:gridCol w="1507838">
                  <a:extLst>
                    <a:ext uri="{9D8B030D-6E8A-4147-A177-3AD203B41FA5}">
                      <a16:colId xmlns:a16="http://schemas.microsoft.com/office/drawing/2014/main" val="681914827"/>
                    </a:ext>
                  </a:extLst>
                </a:gridCol>
                <a:gridCol w="1507838">
                  <a:extLst>
                    <a:ext uri="{9D8B030D-6E8A-4147-A177-3AD203B41FA5}">
                      <a16:colId xmlns:a16="http://schemas.microsoft.com/office/drawing/2014/main" val="3627394562"/>
                    </a:ext>
                  </a:extLst>
                </a:gridCol>
                <a:gridCol w="1507838">
                  <a:extLst>
                    <a:ext uri="{9D8B030D-6E8A-4147-A177-3AD203B41FA5}">
                      <a16:colId xmlns:a16="http://schemas.microsoft.com/office/drawing/2014/main" val="767443773"/>
                    </a:ext>
                  </a:extLst>
                </a:gridCol>
                <a:gridCol w="1507838">
                  <a:extLst>
                    <a:ext uri="{9D8B030D-6E8A-4147-A177-3AD203B41FA5}">
                      <a16:colId xmlns:a16="http://schemas.microsoft.com/office/drawing/2014/main" val="1578925095"/>
                    </a:ext>
                  </a:extLst>
                </a:gridCol>
              </a:tblGrid>
              <a:tr h="4937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알고리즘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AvgAcc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24834"/>
                  </a:ext>
                </a:extLst>
              </a:tr>
              <a:tr h="5036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R-</a:t>
                      </a: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FedLayer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68.38%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67.34%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67.31%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67.31%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-0.79%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52368"/>
                  </a:ext>
                </a:extLst>
              </a:tr>
              <a:tr h="5036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FedAvg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69.09%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62.73%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29.78%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3.44%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-27.83%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10146"/>
                  </a:ext>
                </a:extLst>
              </a:tr>
              <a:tr h="5036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FedPSO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73.73%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73.97%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38.31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34.16%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-18.69%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763386"/>
                  </a:ext>
                </a:extLst>
              </a:tr>
            </a:tbl>
          </a:graphicData>
        </a:graphic>
      </p:graphicFrame>
      <p:sp>
        <p:nvSpPr>
          <p:cNvPr id="7" name="Object 19">
            <a:extLst>
              <a:ext uri="{FF2B5EF4-FFF2-40B4-BE49-F238E27FC236}">
                <a16:creationId xmlns:a16="http://schemas.microsoft.com/office/drawing/2014/main" id="{FA500865-0E30-8D4E-6901-5C0558AB12D1}"/>
              </a:ext>
            </a:extLst>
          </p:cNvPr>
          <p:cNvSpPr txBox="1"/>
          <p:nvPr/>
        </p:nvSpPr>
        <p:spPr>
          <a:xfrm>
            <a:off x="512987" y="4135203"/>
            <a:ext cx="10799284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결과 요약 </a:t>
            </a:r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가 다른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FL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방식의 알고리즘대비 가장 높은 강건성을 보임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  <a:p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FedAvg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는 공격자가 존재하는 경우 정확도가 크게 하락하며 강건성이 매우 낮게 나타남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  <a:p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FedPSO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는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clean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환경에서는 높은 정확도를 보였으나 공격이 발생하면 강건성이 낮아짐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4172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3CCD-AA04-E8D7-F38F-A78FFC10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5BD03988-06D0-5082-1AA1-FC7572364390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D62BB8DA-3165-7D18-BF33-A7C791443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E51D46DC-2D44-A572-638F-A9C89D808D4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0BF6C5B4-C1AA-3137-73EE-70DE20F42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922104D-914F-EFD9-FA08-89AB80106184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20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5AD2E96-9D1B-C773-024D-F9E5A872C9E2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162E338-5B4E-AFCC-6AB8-29ADE26813A3}"/>
              </a:ext>
            </a:extLst>
          </p:cNvPr>
          <p:cNvSpPr txBox="1"/>
          <p:nvPr/>
        </p:nvSpPr>
        <p:spPr>
          <a:xfrm>
            <a:off x="914736" y="656837"/>
            <a:ext cx="9395912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실험 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2. Edge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서버 수 변화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(2 -&gt; 5)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에 따른 </a:t>
            </a:r>
            <a:b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</a:b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강건성 비교</a:t>
            </a:r>
            <a:endParaRPr lang="en-US" altLang="ko-KR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6B14CC5C-BD3F-BAD6-4A9E-C30A29F47206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E8A4EB22-057E-ED89-3C48-A34CCEAADF2E}"/>
              </a:ext>
            </a:extLst>
          </p:cNvPr>
          <p:cNvSpPr txBox="1"/>
          <p:nvPr/>
        </p:nvSpPr>
        <p:spPr>
          <a:xfrm>
            <a:off x="914736" y="2204670"/>
            <a:ext cx="7548478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목적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계층적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엣지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컴퓨팅 환경에서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Edge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서버 수가 증가할 때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의 강건성이 유지되는지 평가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방식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동일한 모델과 동일한 데이터를 사용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Edge-Server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파라미터를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2 -&gt; 3 -&gt; 4 -&gt; 5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로 변경하며 실험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각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Edge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수 별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Clean/Attacked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정확도 측정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각 알고리즘의 평균 성능 변화량 비교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4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392D-5E63-63C1-1FAD-1279C5F4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164C625B-ED55-FC55-564A-949FA82D5FD8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1D64A200-C3A0-E5CF-2AC1-CB94138E5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1F019AA9-99B5-F684-8740-A64807D99E0E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697BA23-4A37-4836-8113-829598BB1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4E07699-96EE-B642-8196-0F20AA9FE876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21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49691E1-AB38-496D-4C24-958A19D62D4A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3DD59C9-EC86-125E-17A5-FB6C727F4113}"/>
              </a:ext>
            </a:extLst>
          </p:cNvPr>
          <p:cNvSpPr txBox="1"/>
          <p:nvPr/>
        </p:nvSpPr>
        <p:spPr>
          <a:xfrm>
            <a:off x="512988" y="631862"/>
            <a:ext cx="8550106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평균 정확도와 평균 성능 하락 수치</a:t>
            </a:r>
            <a:endParaRPr lang="en-US" sz="3500" dirty="0"/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23EE2218-F0BE-81E1-4BBD-0DE3641ED227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03 </a:t>
            </a:r>
            <a:r>
              <a:rPr lang="ko-KR" altLang="en-US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논문</a:t>
            </a:r>
            <a:r>
              <a:rPr lang="en-US" altLang="ko-KR" sz="105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050" dirty="0">
                <a:solidFill>
                  <a:srgbClr val="595959"/>
                </a:solidFill>
                <a:latin typeface="Cafe24 Dangdanghae" pitchFamily="34" charset="0"/>
              </a:rPr>
              <a:t>모델 </a:t>
            </a:r>
            <a:r>
              <a:rPr lang="ko-KR" altLang="en-US" sz="1050" dirty="0" err="1">
                <a:solidFill>
                  <a:srgbClr val="595959"/>
                </a:solidFill>
                <a:latin typeface="Cafe24 Dangdanghae" pitchFamily="34" charset="0"/>
              </a:rPr>
              <a:t>재구현</a:t>
            </a:r>
            <a:endParaRPr lang="en-US" altLang="ko-KR" sz="105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BA742A-F1E6-BE1F-0B93-266019821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458183"/>
              </p:ext>
            </p:extLst>
          </p:nvPr>
        </p:nvGraphicFramePr>
        <p:xfrm>
          <a:off x="512988" y="1915402"/>
          <a:ext cx="10396751" cy="3327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9">
                  <a:extLst>
                    <a:ext uri="{9D8B030D-6E8A-4147-A177-3AD203B41FA5}">
                      <a16:colId xmlns:a16="http://schemas.microsoft.com/office/drawing/2014/main" val="2010207185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1043615926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2394857928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681914827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1305669914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3627394562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1925932688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767443773"/>
                    </a:ext>
                  </a:extLst>
                </a:gridCol>
                <a:gridCol w="905299">
                  <a:extLst>
                    <a:ext uri="{9D8B030D-6E8A-4147-A177-3AD203B41FA5}">
                      <a16:colId xmlns:a16="http://schemas.microsoft.com/office/drawing/2014/main" val="4012009230"/>
                    </a:ext>
                  </a:extLst>
                </a:gridCol>
                <a:gridCol w="1435280">
                  <a:extLst>
                    <a:ext uri="{9D8B030D-6E8A-4147-A177-3AD203B41FA5}">
                      <a16:colId xmlns:a16="http://schemas.microsoft.com/office/drawing/2014/main" val="1578925095"/>
                    </a:ext>
                  </a:extLst>
                </a:gridCol>
              </a:tblGrid>
              <a:tr h="442556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알고리즘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 (Edge-Server)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AvgAcc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24834"/>
                  </a:ext>
                </a:extLst>
              </a:tr>
              <a:tr h="442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Attacked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Attacked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Attacked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Attacked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124711"/>
                  </a:ext>
                </a:extLst>
              </a:tr>
              <a:tr h="808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R-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FedLayer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68.38%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68.22%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65.77%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53.81%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64.80%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53.96%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64.47%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61.64%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-6.45%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52368"/>
                  </a:ext>
                </a:extLst>
              </a:tr>
              <a:tr h="808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FedAvg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67.06%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6.54%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63.69%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7.14%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60.51%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7.04%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57.10%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7.55%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-55.02%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10146"/>
                  </a:ext>
                </a:extLst>
              </a:tr>
              <a:tr h="8251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FedPSO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75.93%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7.26%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70.22%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6.96%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64.89%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9.26%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85.89%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9.70%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-65.94%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763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643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02A7-9B02-FC70-388C-F0CF1F77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E4875DC1-2541-CE40-CA5C-E2DEB93EEA83}"/>
              </a:ext>
            </a:extLst>
          </p:cNvPr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ED3FF9E5-4A51-BB10-0DDB-00432FCBE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1507E29-80F6-6301-BFF3-E4B4948FEF4F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75C1886-18EA-C3D3-EA43-08A9E1193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5DA64E1-9840-8F9E-E6A4-A591EBA86D50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22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ED6CFE7-4E44-7D7D-2CDB-C534284348C6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5912886-CCF9-EE86-DCDC-3C64DAFDE6D0}"/>
              </a:ext>
            </a:extLst>
          </p:cNvPr>
          <p:cNvSpPr txBox="1"/>
          <p:nvPr/>
        </p:nvSpPr>
        <p:spPr>
          <a:xfrm>
            <a:off x="902038" y="1380907"/>
            <a:ext cx="3065991" cy="21750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04</a:t>
            </a:r>
            <a:endParaRPr lang="en-US" sz="120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C534C90-8B7F-C490-D10C-F159CB9CCDE4}"/>
              </a:ext>
            </a:extLst>
          </p:cNvPr>
          <p:cNvSpPr txBox="1"/>
          <p:nvPr/>
        </p:nvSpPr>
        <p:spPr>
          <a:xfrm>
            <a:off x="902038" y="3625080"/>
            <a:ext cx="925743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 dirty="0">
                <a:solidFill>
                  <a:srgbClr val="595959"/>
                </a:solidFill>
                <a:latin typeface="Cafe24 Dangdanghae" pitchFamily="34" charset="0"/>
              </a:rPr>
              <a:t>확장 실험</a:t>
            </a:r>
            <a:endParaRPr lang="en-US" altLang="ko-KR" sz="60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1003" name="그룹 1003">
            <a:extLst>
              <a:ext uri="{FF2B5EF4-FFF2-40B4-BE49-F238E27FC236}">
                <a16:creationId xmlns:a16="http://schemas.microsoft.com/office/drawing/2014/main" id="{1FF941F0-DB0A-E73D-AB15-1639F3140886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8FAE9928-A906-3BA9-5FFA-56453ACE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4CF99B87-9C97-D90E-8BA0-C8C13D95D9E1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04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확장 실험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944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1152-26DE-CC1C-5799-5F8F2BE8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E06D7C4F-8C6C-EDC0-FB60-3E28378935E8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E79F3FBD-6582-75E3-CE19-B707DE847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05A1506-1B92-5035-4BE5-75646BE761F4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23</a:t>
            </a:r>
            <a:endParaRPr lang="en-US" sz="1200" dirty="0"/>
          </a:p>
        </p:txBody>
      </p: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B6124AA-9313-9AF9-E630-2EB4D33441BE}"/>
              </a:ext>
            </a:extLst>
          </p:cNvPr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08A68D7-9634-444D-D391-A2C01F869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9107AC64-313A-6625-2DD2-271C0130C654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33FE842-AF1E-28A1-A1E6-83C31F7F01E3}"/>
              </a:ext>
            </a:extLst>
          </p:cNvPr>
          <p:cNvSpPr txBox="1"/>
          <p:nvPr/>
        </p:nvSpPr>
        <p:spPr>
          <a:xfrm>
            <a:off x="512987" y="1001194"/>
            <a:ext cx="8952289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실험 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3. Non-IID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환경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속 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R-</a:t>
            </a:r>
            <a:r>
              <a:rPr lang="en-US" altLang="ko-KR" sz="3500" dirty="0" err="1">
                <a:solidFill>
                  <a:srgbClr val="595959"/>
                </a:solidFill>
                <a:latin typeface="Cafe24 Dangdanghae" pitchFamily="34" charset="0"/>
              </a:rPr>
              <a:t>FedLayer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한계 확인 </a:t>
            </a:r>
            <a:endParaRPr lang="en-US" altLang="ko-KR" sz="3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6" name="그룹 1003">
            <a:extLst>
              <a:ext uri="{FF2B5EF4-FFF2-40B4-BE49-F238E27FC236}">
                <a16:creationId xmlns:a16="http://schemas.microsoft.com/office/drawing/2014/main" id="{2EB7B12D-B84B-F199-C8C5-CF10705988D4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8" name="Object 13">
              <a:extLst>
                <a:ext uri="{FF2B5EF4-FFF2-40B4-BE49-F238E27FC236}">
                  <a16:creationId xmlns:a16="http://schemas.microsoft.com/office/drawing/2014/main" id="{E16FEABF-D5C0-5A8C-AEB3-00FB748BA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4" name="Object 19">
            <a:extLst>
              <a:ext uri="{FF2B5EF4-FFF2-40B4-BE49-F238E27FC236}">
                <a16:creationId xmlns:a16="http://schemas.microsoft.com/office/drawing/2014/main" id="{0F466A56-0C23-0597-7DED-0F636A8425D9}"/>
              </a:ext>
            </a:extLst>
          </p:cNvPr>
          <p:cNvSpPr txBox="1"/>
          <p:nvPr/>
        </p:nvSpPr>
        <p:spPr>
          <a:xfrm>
            <a:off x="512987" y="2459504"/>
            <a:ext cx="8952289" cy="2400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목적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Non-IID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환경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(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데이터가 서로 다른 분포를 가지는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)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에서도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의 </a:t>
            </a:r>
            <a:b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</a:b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	    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강건성이 유지되는지 평가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실험 방식</a:t>
            </a:r>
            <a:endParaRPr lang="en-US" altLang="ko-KR" sz="2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기존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에서 데이터 환경을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Non-IID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환경으로 변경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공격 비율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30%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에서의 정확도 및 강건성 평가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8465B095-422E-11A6-9F14-B3960CFBB0D2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04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확장 실험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123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90AF-5075-7B9D-F3BA-EF8FF785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E7945CA2-BE1E-C2CC-A567-A7801E2217D1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584CCEB2-8D72-2AB4-4E1B-F8D388834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413BCDBA-63D8-C345-73BA-F35D99779259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4E25318-650B-4B92-5343-C1CFA7A53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50DAE81-AB44-AE53-0497-B8B563892822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24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9118C0A-871C-BAF7-711E-1C5B08AEFAE6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B37886B-F5FE-02CD-4746-EF2C5D1C116D}"/>
              </a:ext>
            </a:extLst>
          </p:cNvPr>
          <p:cNvSpPr txBox="1"/>
          <p:nvPr/>
        </p:nvSpPr>
        <p:spPr>
          <a:xfrm>
            <a:off x="826157" y="685723"/>
            <a:ext cx="7104762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IID vs Non-IID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정확도 성능 </a:t>
            </a:r>
            <a:endParaRPr lang="en-US" sz="3500" dirty="0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EEF82D4E-91FA-1B0F-799D-C97A11BCB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61096"/>
              </p:ext>
            </p:extLst>
          </p:nvPr>
        </p:nvGraphicFramePr>
        <p:xfrm>
          <a:off x="826157" y="1758717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8F4CBEB-FDE3-2621-E1E9-7712DD541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761837"/>
              </p:ext>
            </p:extLst>
          </p:nvPr>
        </p:nvGraphicFramePr>
        <p:xfrm>
          <a:off x="6068782" y="1758717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Object 16">
            <a:extLst>
              <a:ext uri="{FF2B5EF4-FFF2-40B4-BE49-F238E27FC236}">
                <a16:creationId xmlns:a16="http://schemas.microsoft.com/office/drawing/2014/main" id="{18D1046C-B2D2-836B-AC86-E09D47B33C3A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04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확장 실험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43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1E17-38FA-A391-5E45-DA8FCEAD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E88EEA6F-2103-479B-F5C2-128CB8381C33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F0E8EABC-710F-C506-9724-1AD915CBC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12603A3-ECF8-4482-4487-931BC6DDE874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25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373ED99-7B99-C964-076A-27A4D1C798E6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1FC4A0A-E40A-8C54-EB1A-4859978C51CB}"/>
              </a:ext>
            </a:extLst>
          </p:cNvPr>
          <p:cNvSpPr txBox="1"/>
          <p:nvPr/>
        </p:nvSpPr>
        <p:spPr>
          <a:xfrm>
            <a:off x="512987" y="627778"/>
            <a:ext cx="7594267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595959"/>
                </a:solidFill>
                <a:latin typeface="Cafe24 Dangdanghae" pitchFamily="34" charset="0"/>
              </a:rPr>
              <a:t>04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 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확장 실험</a:t>
            </a:r>
            <a:endParaRPr lang="en-US" sz="3500" dirty="0"/>
          </a:p>
        </p:txBody>
      </p:sp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EE821962-821E-7AA6-63F0-23943259DDB3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7B25FABD-F9F8-1CED-940B-F6C3AF75C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2" name="Object 19">
            <a:extLst>
              <a:ext uri="{FF2B5EF4-FFF2-40B4-BE49-F238E27FC236}">
                <a16:creationId xmlns:a16="http://schemas.microsoft.com/office/drawing/2014/main" id="{1352692D-009D-5DE6-65CD-6E6D4522F6DC}"/>
              </a:ext>
            </a:extLst>
          </p:cNvPr>
          <p:cNvSpPr txBox="1"/>
          <p:nvPr/>
        </p:nvSpPr>
        <p:spPr>
          <a:xfrm>
            <a:off x="512987" y="2000468"/>
            <a:ext cx="7672472" cy="6054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667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4" name="Object 19">
            <a:extLst>
              <a:ext uri="{FF2B5EF4-FFF2-40B4-BE49-F238E27FC236}">
                <a16:creationId xmlns:a16="http://schemas.microsoft.com/office/drawing/2014/main" id="{474FE7ED-6173-A3C3-8BE2-897BEADC5EBB}"/>
              </a:ext>
            </a:extLst>
          </p:cNvPr>
          <p:cNvSpPr txBox="1"/>
          <p:nvPr/>
        </p:nvSpPr>
        <p:spPr>
          <a:xfrm>
            <a:off x="512987" y="2136676"/>
            <a:ext cx="10323179" cy="41703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공유 데이터</a:t>
            </a:r>
            <a:endParaRPr lang="en-US" altLang="ko-KR" sz="25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각 클라이언트가 가진 극도로 편향된 데이터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+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전체 분포를 조금 반영하는 공유 데이터를 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합쳐 학습하는 방식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5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5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기대효과</a:t>
            </a:r>
            <a:endParaRPr lang="en-US" altLang="ko-KR" sz="25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10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Non-IID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완화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각 클라이언트가 여러 클래스를 조금씩 보게 되어 정확도 상승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공격자 영향 감소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: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클라이언트들의 업데이트가 </a:t>
            </a:r>
            <a:r>
              <a:rPr lang="ko-KR" altLang="en-US" sz="20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균일해져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공격자의 영향 감소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</a:p>
          <a:p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A7328705-49D7-4754-3116-6B5D75CA7F01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04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확장 실험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28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3F1E-D1B5-9C3D-D056-FB4249BC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DE26467B-D976-F3F7-31BB-28838CA34582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6B00480F-7688-2A2B-7A65-000B4E13E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35810926-C872-611B-6532-83519A4D690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3DA397-D16A-0CDE-B45E-6D71E483A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987C3C5-5408-67DD-8508-359C86C8B1AF}"/>
              </a:ext>
            </a:extLst>
          </p:cNvPr>
          <p:cNvSpPr txBox="1"/>
          <p:nvPr/>
        </p:nvSpPr>
        <p:spPr>
          <a:xfrm>
            <a:off x="11162299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26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95B8AC7-8A8B-28F6-C436-F7EC8E76AAA8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88B1D1E-3988-AEF1-7D48-C82113B1F6CF}"/>
              </a:ext>
            </a:extLst>
          </p:cNvPr>
          <p:cNvSpPr txBox="1"/>
          <p:nvPr/>
        </p:nvSpPr>
        <p:spPr>
          <a:xfrm>
            <a:off x="826157" y="685723"/>
            <a:ext cx="10113644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데이터 공유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(X) VS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 데이터 공유</a:t>
            </a:r>
            <a:r>
              <a:rPr lang="en-US" altLang="ko-KR" sz="3500" dirty="0">
                <a:solidFill>
                  <a:srgbClr val="595959"/>
                </a:solidFill>
                <a:latin typeface="Cafe24 Dangdanghae" pitchFamily="34" charset="0"/>
              </a:rPr>
              <a:t>(O)</a:t>
            </a:r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 정확도 비교 </a:t>
            </a:r>
            <a:endParaRPr lang="en-US" sz="3500" dirty="0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80B3E5B1-855C-DE6E-B7CB-3957FB3E13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4394795"/>
              </p:ext>
            </p:extLst>
          </p:nvPr>
        </p:nvGraphicFramePr>
        <p:xfrm>
          <a:off x="826157" y="1758717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01ABCB6-5E15-E5CB-48D9-9C8438424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619109"/>
              </p:ext>
            </p:extLst>
          </p:nvPr>
        </p:nvGraphicFramePr>
        <p:xfrm>
          <a:off x="6068782" y="1758717"/>
          <a:ext cx="5243489" cy="359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Object 16">
            <a:extLst>
              <a:ext uri="{FF2B5EF4-FFF2-40B4-BE49-F238E27FC236}">
                <a16:creationId xmlns:a16="http://schemas.microsoft.com/office/drawing/2014/main" id="{33DE6B48-94BE-5BE4-EC97-32B769EB408A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04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확장 실험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18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0A7C-A724-449E-ADD8-41F07A6E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808D2A0A-7DB9-09CE-08FB-CF4E66F28341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62864DE9-439D-815F-8CEE-1DB89B10A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7580D08-6627-0546-8EE0-7B7C961648C9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27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B7737A6-4ADE-ED24-4C7F-1C72E2D370E7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CA3BD2E-DF3C-7822-BD7A-D1B4A42BF7E4}"/>
              </a:ext>
            </a:extLst>
          </p:cNvPr>
          <p:cNvSpPr txBox="1"/>
          <p:nvPr/>
        </p:nvSpPr>
        <p:spPr>
          <a:xfrm>
            <a:off x="512987" y="593584"/>
            <a:ext cx="3977516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평균 정확도 변화량</a:t>
            </a:r>
            <a:endParaRPr lang="en-US" sz="3500" dirty="0"/>
          </a:p>
        </p:txBody>
      </p:sp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6A564CDA-6291-E577-AB87-38F170758AF1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2A8C4F0A-4AB7-CEAB-8E60-FF9EE9065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4" name="Object 19">
            <a:extLst>
              <a:ext uri="{FF2B5EF4-FFF2-40B4-BE49-F238E27FC236}">
                <a16:creationId xmlns:a16="http://schemas.microsoft.com/office/drawing/2014/main" id="{E1CB6F9B-C840-F5BF-5BE7-51CA1A93045B}"/>
              </a:ext>
            </a:extLst>
          </p:cNvPr>
          <p:cNvSpPr txBox="1"/>
          <p:nvPr/>
        </p:nvSpPr>
        <p:spPr>
          <a:xfrm>
            <a:off x="285565" y="3411104"/>
            <a:ext cx="10136330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ko-KR" sz="25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800" b="1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결과 요약</a:t>
            </a:r>
            <a:endParaRPr lang="en-US" altLang="ko-KR" sz="2800" b="1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endParaRPr lang="en-US" altLang="ko-KR" sz="25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공유 데이터는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Non-IID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환경에서 강건상 향상에 매우 효과적이다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특히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,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공격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30% 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상황에서도 성능이 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1.39%</a:t>
            </a:r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가량 하락한 것은 모델 중독 공격에 </a:t>
            </a:r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r>
              <a:rPr lang="ko-KR" altLang="en-US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대한 강건성이 매우 높음을 알 수 있다</a:t>
            </a:r>
            <a:r>
              <a:rPr lang="en-US" altLang="ko-KR" sz="20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.</a:t>
            </a:r>
          </a:p>
          <a:p>
            <a:endParaRPr lang="en-US" altLang="ko-KR" sz="20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C25F48AF-C3ED-F119-7A92-3AD659A54865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04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확장 실험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484D498-3C81-8EBD-5E3D-F6997E3F7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574694"/>
              </p:ext>
            </p:extLst>
          </p:nvPr>
        </p:nvGraphicFramePr>
        <p:xfrm>
          <a:off x="3029976" y="1710696"/>
          <a:ext cx="6132047" cy="1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087">
                  <a:extLst>
                    <a:ext uri="{9D8B030D-6E8A-4147-A177-3AD203B41FA5}">
                      <a16:colId xmlns:a16="http://schemas.microsoft.com/office/drawing/2014/main" val="2010207185"/>
                    </a:ext>
                  </a:extLst>
                </a:gridCol>
                <a:gridCol w="2036480">
                  <a:extLst>
                    <a:ext uri="{9D8B030D-6E8A-4147-A177-3AD203B41FA5}">
                      <a16:colId xmlns:a16="http://schemas.microsoft.com/office/drawing/2014/main" val="1043615926"/>
                    </a:ext>
                  </a:extLst>
                </a:gridCol>
                <a:gridCol w="2036480">
                  <a:extLst>
                    <a:ext uri="{9D8B030D-6E8A-4147-A177-3AD203B41FA5}">
                      <a16:colId xmlns:a16="http://schemas.microsoft.com/office/drawing/2014/main" val="681914827"/>
                    </a:ext>
                  </a:extLst>
                </a:gridCol>
              </a:tblGrid>
              <a:tr h="5652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공유 데이터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(X)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공유 데이터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(O)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24834"/>
                  </a:ext>
                </a:extLst>
              </a:tr>
              <a:tr h="57652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59.36%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73.84%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52368"/>
                  </a:ext>
                </a:extLst>
              </a:tr>
              <a:tr h="57652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Atack(30%)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54.20%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72.45%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11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04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141B-37E0-0744-65F5-0CCD0D61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378CB26C-955F-3952-CF23-7C774758B82A}"/>
              </a:ext>
            </a:extLst>
          </p:cNvPr>
          <p:cNvGrpSpPr/>
          <p:nvPr/>
        </p:nvGrpSpPr>
        <p:grpSpPr>
          <a:xfrm>
            <a:off x="7257245" y="3503086"/>
            <a:ext cx="7487289" cy="109714"/>
            <a:chOff x="10885867" y="5254628"/>
            <a:chExt cx="11230934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C8BA9992-0309-BA38-63C7-6800B7101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10885867" y="5254628"/>
              <a:ext cx="11230934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AC96F59E-6254-A626-BF00-EDA942C443CB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C9F6B25-2692-9549-925D-C1393C210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81554BD-C461-6F70-D60E-F204B0A8FA49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28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FA4DFC1-5B07-8746-3DF6-DF33201AD093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543DE0A-0276-74E5-C97D-8A8CC219D5A0}"/>
              </a:ext>
            </a:extLst>
          </p:cNvPr>
          <p:cNvSpPr txBox="1"/>
          <p:nvPr/>
        </p:nvSpPr>
        <p:spPr>
          <a:xfrm>
            <a:off x="902038" y="1380907"/>
            <a:ext cx="2958133" cy="21750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05</a:t>
            </a:r>
            <a:endParaRPr lang="en-US" sz="120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31E56DE-17E2-FDD8-F52B-F2B76A84A239}"/>
              </a:ext>
            </a:extLst>
          </p:cNvPr>
          <p:cNvSpPr txBox="1"/>
          <p:nvPr/>
        </p:nvSpPr>
        <p:spPr>
          <a:xfrm>
            <a:off x="902038" y="3625080"/>
            <a:ext cx="2958133" cy="9387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500" dirty="0">
                <a:solidFill>
                  <a:srgbClr val="595959"/>
                </a:solidFill>
                <a:latin typeface="Cafe24 Dangdanghae" pitchFamily="34" charset="0"/>
              </a:rPr>
              <a:t>결론</a:t>
            </a:r>
            <a:endParaRPr lang="en-US" altLang="ko-KR" sz="55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grpSp>
        <p:nvGrpSpPr>
          <p:cNvPr id="1003" name="그룹 1003">
            <a:extLst>
              <a:ext uri="{FF2B5EF4-FFF2-40B4-BE49-F238E27FC236}">
                <a16:creationId xmlns:a16="http://schemas.microsoft.com/office/drawing/2014/main" id="{561FF2E1-8DE8-EBFB-75C6-DDAC20ABD2F3}"/>
              </a:ext>
            </a:extLst>
          </p:cNvPr>
          <p:cNvGrpSpPr/>
          <p:nvPr/>
        </p:nvGrpSpPr>
        <p:grpSpPr>
          <a:xfrm>
            <a:off x="-212549" y="6307048"/>
            <a:ext cx="11222073" cy="109714"/>
            <a:chOff x="-318823" y="9460571"/>
            <a:chExt cx="16833109" cy="164571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11DC3FC6-8C1B-1658-10FE-1FBD38932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-318823" y="9460571"/>
              <a:ext cx="16833109" cy="164571"/>
            </a:xfrm>
            <a:prstGeom prst="rect">
              <a:avLst/>
            </a:prstGeom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39A8E857-EE7C-E0CF-D3FC-454F9EEBDD69}"/>
              </a:ext>
            </a:extLst>
          </p:cNvPr>
          <p:cNvSpPr txBox="1"/>
          <p:nvPr/>
        </p:nvSpPr>
        <p:spPr>
          <a:xfrm>
            <a:off x="914736" y="6489990"/>
            <a:ext cx="278048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05 </a:t>
            </a:r>
            <a:r>
              <a:rPr lang="ko-KR" altLang="en-US" sz="1100" dirty="0">
                <a:solidFill>
                  <a:srgbClr val="595959"/>
                </a:solidFill>
                <a:latin typeface="Cafe24 Dangdanghae" pitchFamily="34" charset="0"/>
                <a:cs typeface="S-Core Dream 4 Regular" pitchFamily="34" charset="0"/>
              </a:rPr>
              <a:t>결론</a:t>
            </a:r>
            <a:endParaRPr lang="en-US" altLang="ko-KR" sz="11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1286B7D5-3ED3-E06A-A726-6014B3C18B53}"/>
              </a:ext>
            </a:extLst>
          </p:cNvPr>
          <p:cNvSpPr txBox="1"/>
          <p:nvPr/>
        </p:nvSpPr>
        <p:spPr>
          <a:xfrm>
            <a:off x="3860171" y="1380907"/>
            <a:ext cx="6545446" cy="3477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R-</a:t>
            </a:r>
            <a:r>
              <a:rPr lang="en-US" sz="2000" dirty="0" err="1"/>
              <a:t>FedLayer</a:t>
            </a:r>
            <a:r>
              <a:rPr lang="ko-KR" altLang="en-US" sz="2000" dirty="0"/>
              <a:t>는 기존 연합학습 알고리즘 대비 가장</a:t>
            </a:r>
            <a:br>
              <a:rPr lang="en-US" altLang="ko-KR" sz="2000" dirty="0"/>
            </a:br>
            <a:r>
              <a:rPr lang="ko-KR" altLang="en-US" sz="2000" dirty="0"/>
              <a:t>높은 강건성을 보였다</a:t>
            </a:r>
            <a:r>
              <a:rPr lang="en-US" altLang="ko-KR" sz="20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공격 비율이 증가해도 정확도 하락폭이 매우</a:t>
            </a:r>
            <a:r>
              <a:rPr lang="en-US" altLang="ko-KR" sz="2000" dirty="0"/>
              <a:t> </a:t>
            </a:r>
            <a:r>
              <a:rPr lang="ko-KR" altLang="en-US" sz="2000" dirty="0"/>
              <a:t>작아</a:t>
            </a:r>
            <a:r>
              <a:rPr lang="en-US" altLang="ko-KR" sz="2000" dirty="0"/>
              <a:t>, </a:t>
            </a:r>
            <a:br>
              <a:rPr lang="en-US" altLang="ko-KR" sz="2000" dirty="0"/>
            </a:br>
            <a:r>
              <a:rPr lang="ko-KR" altLang="en-US" sz="2000" dirty="0"/>
              <a:t>모델 중독 공격에 대한 방어력이 매우 뛰어났다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Edge </a:t>
            </a:r>
            <a:r>
              <a:rPr lang="ko-KR" altLang="en-US" sz="2000" dirty="0"/>
              <a:t>서버 수를 늘려도 성능이 안정적으로 유지된다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Non-IID </a:t>
            </a:r>
            <a:r>
              <a:rPr lang="ko-KR" altLang="en-US" sz="2000" dirty="0"/>
              <a:t>환경에서는 성능 저하가 있었으나</a:t>
            </a:r>
            <a:r>
              <a:rPr lang="en-US" altLang="ko-KR" sz="2000" dirty="0"/>
              <a:t>, </a:t>
            </a:r>
            <a:br>
              <a:rPr lang="en-US" altLang="ko-KR" sz="2000" dirty="0"/>
            </a:br>
            <a:r>
              <a:rPr lang="ko-KR" altLang="en-US" sz="2000" dirty="0"/>
              <a:t>공유 데이터를 사용하여 정확도와 안정성이 크게 </a:t>
            </a:r>
            <a:br>
              <a:rPr lang="en-US" altLang="ko-KR" sz="2000" dirty="0"/>
            </a:br>
            <a:r>
              <a:rPr lang="ko-KR" altLang="en-US" sz="2000" dirty="0"/>
              <a:t>향상 되었다</a:t>
            </a:r>
            <a:r>
              <a:rPr lang="en-US" altLang="ko-KR" sz="2000" dirty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5257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F69D-6263-B2DA-6AE4-C3216E65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>
            <a:extLst>
              <a:ext uri="{FF2B5EF4-FFF2-40B4-BE49-F238E27FC236}">
                <a16:creationId xmlns:a16="http://schemas.microsoft.com/office/drawing/2014/main" id="{ACFCDA6E-1DAF-1CF3-7E37-45933FCE2B64}"/>
              </a:ext>
            </a:extLst>
          </p:cNvPr>
          <p:cNvGrpSpPr/>
          <p:nvPr/>
        </p:nvGrpSpPr>
        <p:grpSpPr>
          <a:xfrm>
            <a:off x="-247619" y="6307048"/>
            <a:ext cx="10304762" cy="109714"/>
            <a:chOff x="-371429" y="9460571"/>
            <a:chExt cx="15457143" cy="164571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FC22BD18-5298-B65B-3EC1-877C03667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-371429" y="9460571"/>
              <a:ext cx="15457143" cy="164571"/>
            </a:xfrm>
            <a:prstGeom prst="rect">
              <a:avLst/>
            </a:prstGeom>
          </p:spPr>
        </p:pic>
      </p:grpSp>
      <p:grpSp>
        <p:nvGrpSpPr>
          <p:cNvPr id="1002" name="그룹 1002">
            <a:extLst>
              <a:ext uri="{FF2B5EF4-FFF2-40B4-BE49-F238E27FC236}">
                <a16:creationId xmlns:a16="http://schemas.microsoft.com/office/drawing/2014/main" id="{F42B7F44-CA49-3024-627A-F1CD4CD06271}"/>
              </a:ext>
            </a:extLst>
          </p:cNvPr>
          <p:cNvGrpSpPr/>
          <p:nvPr/>
        </p:nvGrpSpPr>
        <p:grpSpPr>
          <a:xfrm>
            <a:off x="10699655" y="4378450"/>
            <a:ext cx="1875864" cy="82850"/>
            <a:chOff x="16049483" y="6567674"/>
            <a:chExt cx="2813796" cy="12427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D516D5DF-7EDB-F8D9-07BD-227BA12BF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16049483" y="6567674"/>
              <a:ext cx="2813796" cy="1242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E0AD3E9-793C-ABA4-273A-2B009387979C}"/>
              </a:ext>
            </a:extLst>
          </p:cNvPr>
          <p:cNvSpPr txBox="1"/>
          <p:nvPr/>
        </p:nvSpPr>
        <p:spPr>
          <a:xfrm>
            <a:off x="11162300" y="5579241"/>
            <a:ext cx="86772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fe24 Dangdanghae" pitchFamily="34" charset="0"/>
              </a:rPr>
              <a:t>29</a:t>
            </a:r>
            <a:endParaRPr lang="en-US" sz="12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0D6F8C2-A870-E7EC-8A5F-B210CE0BEB73}"/>
              </a:ext>
            </a:extLst>
          </p:cNvPr>
          <p:cNvSpPr txBox="1"/>
          <p:nvPr/>
        </p:nvSpPr>
        <p:spPr>
          <a:xfrm>
            <a:off x="11312271" y="364994"/>
            <a:ext cx="594164" cy="636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534" dirty="0">
                <a:solidFill>
                  <a:srgbClr val="595959"/>
                </a:solidFill>
                <a:latin typeface="Cafe24 Dangdanghae" pitchFamily="34" charset="0"/>
                <a:cs typeface="Cafe24 Dangdanghae" pitchFamily="34" charset="0"/>
              </a:rPr>
              <a:t>+</a:t>
            </a:r>
            <a:endParaRPr lang="en-US" sz="12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FA39650-6E13-C815-29C5-F6C1F63DD478}"/>
              </a:ext>
            </a:extLst>
          </p:cNvPr>
          <p:cNvSpPr/>
          <p:nvPr/>
        </p:nvSpPr>
        <p:spPr>
          <a:xfrm>
            <a:off x="437848" y="1538641"/>
            <a:ext cx="5372307" cy="153978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1C83490-C2FE-E039-8012-E5F01C57F322}"/>
              </a:ext>
            </a:extLst>
          </p:cNvPr>
          <p:cNvSpPr/>
          <p:nvPr/>
        </p:nvSpPr>
        <p:spPr>
          <a:xfrm>
            <a:off x="694884" y="1735544"/>
            <a:ext cx="1655705" cy="117581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595959"/>
                </a:solidFill>
                <a:latin typeface="Cafe24 Dangdanghae" pitchFamily="34" charset="0"/>
              </a:rPr>
              <a:t>정준영</a:t>
            </a:r>
            <a:endParaRPr lang="ko-KR" altLang="en-US" sz="20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D537542-9D50-18B3-127E-F20121CC82A0}"/>
              </a:ext>
            </a:extLst>
          </p:cNvPr>
          <p:cNvSpPr/>
          <p:nvPr/>
        </p:nvSpPr>
        <p:spPr>
          <a:xfrm>
            <a:off x="6223856" y="1538641"/>
            <a:ext cx="5372306" cy="153978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2710E2D-4D1B-8DAB-07BA-4D0794480F80}"/>
              </a:ext>
            </a:extLst>
          </p:cNvPr>
          <p:cNvSpPr/>
          <p:nvPr/>
        </p:nvSpPr>
        <p:spPr>
          <a:xfrm>
            <a:off x="6480891" y="1723950"/>
            <a:ext cx="1655705" cy="117581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solidFill>
                  <a:srgbClr val="595959"/>
                </a:solidFill>
                <a:latin typeface="Cafe24 Dangdanghae" pitchFamily="34" charset="0"/>
              </a:rPr>
              <a:t>박신향</a:t>
            </a:r>
            <a:endParaRPr lang="ko-KR" altLang="en-US" sz="2000" dirty="0"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899C2BC7-6C33-80E1-D02F-5E59C3E3B36F}"/>
              </a:ext>
            </a:extLst>
          </p:cNvPr>
          <p:cNvSpPr txBox="1"/>
          <p:nvPr/>
        </p:nvSpPr>
        <p:spPr>
          <a:xfrm>
            <a:off x="8393631" y="1861725"/>
            <a:ext cx="3096379" cy="10926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R-</a:t>
            </a:r>
            <a:r>
              <a:rPr lang="en-US" altLang="ko-KR" sz="13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FedLayer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알고리즘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FedAvg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알고리즘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FedPSO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알고리즘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확장 실험 아이디어 제공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C97408F-E47D-0F56-731C-B5CD8843CE19}"/>
              </a:ext>
            </a:extLst>
          </p:cNvPr>
          <p:cNvSpPr/>
          <p:nvPr/>
        </p:nvSpPr>
        <p:spPr>
          <a:xfrm>
            <a:off x="3124001" y="3922844"/>
            <a:ext cx="5372307" cy="153978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A56D7FD-4B45-E4FE-96CF-FB9BC10A1FF1}"/>
              </a:ext>
            </a:extLst>
          </p:cNvPr>
          <p:cNvSpPr/>
          <p:nvPr/>
        </p:nvSpPr>
        <p:spPr>
          <a:xfrm>
            <a:off x="3381036" y="4108153"/>
            <a:ext cx="1655705" cy="1175816"/>
          </a:xfrm>
          <a:prstGeom prst="roundRect">
            <a:avLst/>
          </a:prstGeom>
          <a:solidFill>
            <a:srgbClr val="E8E8E8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595959"/>
                </a:solidFill>
                <a:latin typeface="Cafe24 Dangdanghae" pitchFamily="34" charset="0"/>
              </a:rPr>
              <a:t>김재운</a:t>
            </a:r>
            <a:endParaRPr lang="en-US" altLang="ko-KR" sz="2000" dirty="0">
              <a:solidFill>
                <a:srgbClr val="595959"/>
              </a:solidFill>
              <a:latin typeface="Cafe24 Dangdanghae" pitchFamily="34" charset="0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BAE6182B-33AE-ABF1-F075-F209D677FD9C}"/>
              </a:ext>
            </a:extLst>
          </p:cNvPr>
          <p:cNvSpPr txBox="1"/>
          <p:nvPr/>
        </p:nvSpPr>
        <p:spPr>
          <a:xfrm>
            <a:off x="2558109" y="1973879"/>
            <a:ext cx="3080250" cy="6924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FedPSO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알고리즘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공유 데이터 확장 실험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대본 작성 및 발표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5FA5339-04E6-F97C-2E53-034A15CA4086}"/>
              </a:ext>
            </a:extLst>
          </p:cNvPr>
          <p:cNvSpPr txBox="1"/>
          <p:nvPr/>
        </p:nvSpPr>
        <p:spPr>
          <a:xfrm>
            <a:off x="5228132" y="4346488"/>
            <a:ext cx="3096380" cy="6924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FedAvg</a:t>
            </a:r>
            <a:r>
              <a:rPr lang="en-US" altLang="ko-KR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알고리즘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공유 데이터 확장 실험 구현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95959"/>
                </a:solidFill>
                <a:latin typeface="S-Core Dream 4 Regular" pitchFamily="34" charset="0"/>
                <a:cs typeface="S-Core Dream 4 Regular" pitchFamily="34" charset="0"/>
              </a:rPr>
              <a:t>발표자료 제작</a:t>
            </a:r>
            <a:endParaRPr lang="en-US" altLang="ko-KR" sz="1300" dirty="0">
              <a:solidFill>
                <a:srgbClr val="595959"/>
              </a:solidFill>
              <a:latin typeface="S-Core Dream 4 Regular" pitchFamily="34" charset="0"/>
              <a:cs typeface="S-Core Dream 4 Regular" pitchFamily="34" charset="0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F0F96CF8-1C5E-BD90-14B3-2EDE0B5775BC}"/>
              </a:ext>
            </a:extLst>
          </p:cNvPr>
          <p:cNvSpPr txBox="1"/>
          <p:nvPr/>
        </p:nvSpPr>
        <p:spPr>
          <a:xfrm>
            <a:off x="437848" y="370419"/>
            <a:ext cx="3977516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500" dirty="0">
                <a:solidFill>
                  <a:srgbClr val="595959"/>
                </a:solidFill>
                <a:latin typeface="Cafe24 Dangdanghae" pitchFamily="34" charset="0"/>
              </a:rPr>
              <a:t>조원 역할 분담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390583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1270</Words>
  <Application>Microsoft Macintosh PowerPoint</Application>
  <PresentationFormat>와이드스크린</PresentationFormat>
  <Paragraphs>413</Paragraphs>
  <Slides>30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맑은 고딕</vt:lpstr>
      <vt:lpstr>Cafe24 Dangdanghae</vt:lpstr>
      <vt:lpstr>S-Core Dream 4 Regular</vt:lpstr>
      <vt:lpstr>Arial</vt:lpstr>
      <vt:lpstr>Cambria Math</vt:lpstr>
      <vt:lpstr>Showcard Gothic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재운 김</dc:creator>
  <cp:lastModifiedBy>정준영</cp:lastModifiedBy>
  <cp:revision>27</cp:revision>
  <dcterms:created xsi:type="dcterms:W3CDTF">2025-11-25T07:47:44Z</dcterms:created>
  <dcterms:modified xsi:type="dcterms:W3CDTF">2025-11-26T06:03:23Z</dcterms:modified>
</cp:coreProperties>
</file>